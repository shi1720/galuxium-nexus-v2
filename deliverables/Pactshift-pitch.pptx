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794ccbc350a4407" /><Relationship Type="http://schemas.openxmlformats.org/officeDocument/2006/relationships/extended-properties" Target="/docProps/app.xml" Id="Ree215d633565458a" /><Relationship Type="http://schemas.openxmlformats.org/officeDocument/2006/relationships/officeDocument" Target="/ppt/presentation.xml" Id="R53de1cdba4ff4f36" /></Relationships>
</file>

<file path=ppt/presentation.xml><?xml version="1.0" encoding="utf-8"?>
<p:presentation xmlns:p="http://schemas.openxmlformats.org/presentationml/2006/main">
  <p:sldMasterIdLst>
    <p:sldMasterId xmlns:r="http://schemas.openxmlformats.org/officeDocument/2006/relationships" id="2147483648" r:id="R3f2493f41b5442cc"/>
  </p:sldMasterIdLst>
  <p:notesMasterIdLst>
    <p:notesMasterId xmlns:r="http://schemas.openxmlformats.org/officeDocument/2006/relationships" r:id="Rff4bf12b2f7841e6"/>
  </p:notesMasterIdLst>
  <p:sldIdLst>
    <p:sldId xmlns:r="http://schemas.openxmlformats.org/officeDocument/2006/relationships" id="256" r:id="Rd6939c8448a74890"/>
    <p:sldId xmlns:r="http://schemas.openxmlformats.org/officeDocument/2006/relationships" id="257" r:id="R7cf719cd7dfe4cd8"/>
    <p:sldId xmlns:r="http://schemas.openxmlformats.org/officeDocument/2006/relationships" id="258" r:id="R42660108ce314bd6"/>
    <p:sldId xmlns:r="http://schemas.openxmlformats.org/officeDocument/2006/relationships" id="259" r:id="R3abf1718ff154813"/>
    <p:sldId xmlns:r="http://schemas.openxmlformats.org/officeDocument/2006/relationships" id="260" r:id="Rc3bace86e9424c1c"/>
    <p:sldId xmlns:r="http://schemas.openxmlformats.org/officeDocument/2006/relationships" id="261" r:id="R70c3b850be0d41c3"/>
    <p:sldId xmlns:r="http://schemas.openxmlformats.org/officeDocument/2006/relationships" id="262" r:id="Raf8cad849c464a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416170bd62496a" /><Relationship Type="http://schemas.openxmlformats.org/officeDocument/2006/relationships/slideMaster" Target="/ppt/slideMasters/slideMaster1.xml" Id="R3f2493f41b5442cc" /><Relationship Type="http://schemas.openxmlformats.org/officeDocument/2006/relationships/notesMaster" Target="/ppt/notesMasters/notesMaster1.xml" Id="Rff4bf12b2f7841e6" /><Relationship Type="http://schemas.openxmlformats.org/officeDocument/2006/relationships/presProps" Target="/ppt/presProps.xml" Id="Ra4bc1fec32204481" /><Relationship Type="http://schemas.openxmlformats.org/officeDocument/2006/relationships/tableStyles" Target="/ppt/tableStyles.xml" Id="Rbbd99558f09444f7" /><Relationship Type="http://schemas.openxmlformats.org/officeDocument/2006/relationships/slide" Target="/ppt/slides/slide1.xml" Id="Rd6939c8448a74890" /><Relationship Type="http://schemas.openxmlformats.org/officeDocument/2006/relationships/slide" Target="/ppt/slides/slide2.xml" Id="R7cf719cd7dfe4cd8" /><Relationship Type="http://schemas.openxmlformats.org/officeDocument/2006/relationships/slide" Target="/ppt/slides/slide3.xml" Id="R42660108ce314bd6" /><Relationship Type="http://schemas.openxmlformats.org/officeDocument/2006/relationships/slide" Target="/ppt/slides/slide4.xml" Id="R3abf1718ff154813" /><Relationship Type="http://schemas.openxmlformats.org/officeDocument/2006/relationships/slide" Target="/ppt/slides/slide5.xml" Id="Rc3bace86e9424c1c" /><Relationship Type="http://schemas.openxmlformats.org/officeDocument/2006/relationships/slide" Target="/ppt/slides/slide6.xml" Id="R70c3b850be0d41c3" /><Relationship Type="http://schemas.openxmlformats.org/officeDocument/2006/relationships/slide" Target="/ppt/slides/slide7.xml" Id="Raf8cad849c464a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4a522830fb4c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3fadbba8b34caa" /><Relationship Type="http://schemas.openxmlformats.org/officeDocument/2006/relationships/notesMaster" Target="/ppt/notesMasters/notesMaster1.xml" Id="R966fcd30c0ad45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af081cd0204f61" /><Relationship Type="http://schemas.openxmlformats.org/officeDocument/2006/relationships/notesMaster" Target="/ppt/notesMasters/notesMaster1.xml" Id="R87441e4b735144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b9460785b24673" /><Relationship Type="http://schemas.openxmlformats.org/officeDocument/2006/relationships/notesMaster" Target="/ppt/notesMasters/notesMaster1.xml" Id="Rc210f36a24ca44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cfc2e0e514cdd" /><Relationship Type="http://schemas.openxmlformats.org/officeDocument/2006/relationships/notesMaster" Target="/ppt/notesMasters/notesMaster1.xml" Id="R9af97af3b7884f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9bc2a6b4b4441c" /><Relationship Type="http://schemas.openxmlformats.org/officeDocument/2006/relationships/notesMaster" Target="/ppt/notesMasters/notesMaster1.xml" Id="R6f588153b3d34f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bb9a33ae474721" /><Relationship Type="http://schemas.openxmlformats.org/officeDocument/2006/relationships/notesMaster" Target="/ppt/notesMasters/notesMaster1.xml" Id="Rfede35ce85b147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fec5226b7946db" /><Relationship Type="http://schemas.openxmlformats.org/officeDocument/2006/relationships/notesMaster" Target="/ppt/notesMasters/notesMaster1.xml" Id="Re1c4419015984c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Pactshift is software for fixed-fee agencies to turn a new client request into an explicit add, swap, or defer decision. Founder and builder: Shivam Gupta. Development uses AI assistance. This deck presents the product implementation and business hypotheses, without claiming customer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only, not observed customer results. Assumptions: budget USD 12000, baseline 96 hours, delivery cost USD 60/hour, extra request 12 hours. Original gross margin = (fee - baseline hours * cost rate)/fee. Absorbed margin = (fee - (baseline hours + extra hours)*cost rate)/fee. Gross margin excludes overhead, taxes, and non-labor cost. Source: product demonstration scenario and docs/BUSINESS.md. Upwork's fixed-price freelancer field guide independently describes scope creep and add/swap/defer responses: https://www.upwork.com/mc/documents/caf2f4f2e8dab00fc04b3408465eedb3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docs/BUILD_CONTRACT.md, shared/types.ts, server domain model. Amounts are illustrative demonstration values. The swap option requires planned, unlocked deliverables with sufficient estimated capacity and no active dependents. Add inserts the requested deliverable and increases budget. Swap retires selected deliverables and adds the request at the existing budget. Defer leaves the baseline unchanged. The decision receipt records the current version, client name, and selected option. This is an operational acknowledgment, not a claim of a certified digital signature.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docs/images/request.png, a native browser capture from the working local Pactshift application. This slide crops the image to the request, scope evidence and proposed options. The demonstration workspace is fictional and isolated from real customer data. This is the owner review screen, not the client offer. The screenshot remains a raster image and the surrounding text remains editable. Live application: https://pactshift-wh46bdeima-uc.a.run.app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and implemented controls are documented in docs/BUILD_CONTRACT.md and source. React/Vite client, Express/TypeScript API, Firestore durable storage adapter, and local JSON adapter. Tenant checks apply to private routes. Public offers expose a limited client view. Server-side arithmetic controls prices. Acceptance validates the current baseline and mutates the workspace atomically. SHA-256 chained audit events help detect edits but are not externally anchored or tamper-proof against privileged rewriting. AI analysis may use Vertex Gemini with validated citations, or a disclosed rules fallback. Neither engine accepts agreements or sets prices. Current product boundaries include one owner per workspace, 30 requests per project, 100 audit events per project, 50 baseline versions per project, and 720,000 bytes of workspace storage. Stored-project quotas include archived projects. Client approvals are included within these bounds, not unlimited. The product makes no compliance certification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docs/BUSINESS.md and the implementation plan. Prices are USD per workspace per month, a launch hypothesis rather than validated willingness to pay. Stripe checkout and signed webhook integration require merchant configuration. No live payment or revenue claim. Stored-project quotas include archived projects. Client approvals are included within explicit storage limits: 30 requests, 100 audit events and 50 baseline versions per project, and 720,000 bytes per workspace. A project allowance does not promise every project can reach every object limit simultaneously. Illustrative AI cost: Gemini 2.5 Flash-Lite at USD 0.10/1M input tokens and USD 0.40/1M output tokens yields USD 0.001 per analysis at 6,000 input plus 1,000 output tokens. At full included allowance this is USD 0.30 Studio or USD 1.50 Agency before retries, hosting, storage, support, payment processing, and tax. Source: https://cloud.google.com/vertex-ai/generative-ai/pricing accessed 2026-09-22. Rates and providers can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hypothesis: begin with small agencies selling web/design work at fixed fees. Recruit five design partners with consent, run real requests, and measure time to a client decision, accepted value, repeat use, and willingness to pay. These are planned validation steps, not completed traction. Competitive differentiation is the executable add/swap/defer baseline workflow with explicit capacity checks and a flat subscription. Similar products already exist, including ScopeGuardian, ScopeApproval, and ScopePilot. Source links and comparison limits: docs/MARKET.md. Founder and builder: Shivam Gupta. AI-assisted engineering and content production. Repository: https://github.com/shi1720/Galuxium-Nexus-V2. Live application: https://pactshift-wh46bdeima-uc.a.run.app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306520b3f743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8a229b0f99494e" /><Relationship Type="http://schemas.openxmlformats.org/officeDocument/2006/relationships/slideLayout" Target="/ppt/slideLayouts/slideLayout1.xml" Id="R4cb3c96028cb4d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b3c96028cb4d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373292a9ca414d" /><Relationship Type="http://schemas.openxmlformats.org/officeDocument/2006/relationships/notesSlide" Target="/ppt/notesSlides/notesSlide1.xml" Id="R5fa186107a5c42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47f54a7c204937" /><Relationship Type="http://schemas.openxmlformats.org/officeDocument/2006/relationships/chart" Target="/ppt/slides/charts/chart1.xml" Id="R1a4829e784274ba5" /><Relationship Type="http://schemas.openxmlformats.org/officeDocument/2006/relationships/notesSlide" Target="/ppt/notesSlides/notesSlide2.xml" Id="Rb296d09eb43946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0eb82c209444fc" /><Relationship Type="http://schemas.openxmlformats.org/officeDocument/2006/relationships/notesSlide" Target="/ppt/notesSlides/notesSlide3.xml" Id="R01543b7a482046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8579db6d2b4ee7" /><Relationship Type="http://schemas.openxmlformats.org/officeDocument/2006/relationships/image" Target="/ppt/media/image.png" Id="R28f5cadee4c84c91" /><Relationship Type="http://schemas.openxmlformats.org/officeDocument/2006/relationships/notesSlide" Target="/ppt/notesSlides/notesSlide4.xml" Id="Rd63e30534a6b47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534406b0754dab" /><Relationship Type="http://schemas.openxmlformats.org/officeDocument/2006/relationships/notesSlide" Target="/ppt/notesSlides/notesSlide5.xml" Id="R90f7a88c203c4d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3f50927e6242f9" /><Relationship Type="http://schemas.openxmlformats.org/officeDocument/2006/relationships/notesSlide" Target="/ppt/notesSlides/notesSlide6.xml" Id="R8457714bca3b48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452532a2d54bc2" /><Relationship Type="http://schemas.openxmlformats.org/officeDocument/2006/relationships/notesSlide" Target="/ppt/notesSlides/notesSlide7.xml" Id="R5bdf8e1e7c5b4e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Gross margin</c:v>
          </c:tx>
          <c:spPr>
            <a:solidFill xmlns:a="http://schemas.openxmlformats.org/drawingml/2006/main">
              <a:srgbClr val="167D5A"/>
            </a:solidFill>
          </c:spPr>
          <c:dPt>
            <c:idx val="1"/>
            <c:invertIfNegative val="0"/>
            <c:spPr>
              <a:solidFill xmlns:a="http://schemas.openxmlformats.org/drawingml/2006/main">
                <a:srgbClr val="AAC5B7"/>
              </a:solidFill>
            </c:spPr>
          </c:dPt>
          <c:cat>
            <c:strRef>
              <c:f>'Chart Data'!$A$2:$A$3</c:f>
              <c:strCache>
                <c:ptCount val="2"/>
                <c:pt idx="0">
                  <c:v>Original plan</c:v>
                </c:pt>
                <c:pt idx="1">
                  <c:v>Absorb request</c:v>
                </c:pt>
              </c:strCache>
            </c:strRef>
          </c:cat>
          <c:val>
            <c:numRef>
              <c:f>'Chart Data'!$B$2:$B$3</c:f>
              <c:numCache>
                <c:formatCode>0.0%</c:formatCode>
                <c:ptCount val="2"/>
                <c:pt idx="0">
                  <c:v>0.52</c:v>
                </c:pt>
                <c:pt idx="1">
                  <c:v>0.46</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72E29"/>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FD8"/>
            </a:solidFill>
          </a:ln>
        </c:spPr>
        <c:txPr>
          <a:bodyPr xmlns:a="http://schemas.openxmlformats.org/drawingml/2006/main" anchorCtr="1"/>
          <a:lstStyle xmlns:a="http://schemas.openxmlformats.org/drawingml/2006/main"/>
          <a:p xmlns:a="http://schemas.openxmlformats.org/drawingml/2006/main">
            <a:pPr>
              <a:defRPr sz="1725">
                <a:solidFill>
                  <a:srgbClr val="172E29"/>
                </a:solidFill>
                <a:latin typeface="Arial"/>
                <a:ea typeface="Arial"/>
                <a:cs typeface="Arial"/>
              </a:defRPr>
            </a:pPr>
          </a:p>
        </c:txPr>
        <c:crossAx val="48672768"/>
      </c:catAx>
      <c:valAx>
        <c:axId val="48672768"/>
        <c:scaling>
          <c:orientation val="minMax"/>
          <c:max val="0.6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E29"/>
        </a:solidFill>
      </p:bgPr>
    </p:bg>
    <p:spTree>
      <p:nvGrpSpPr>
        <p:cNvPr id="1" name=""/>
        <p:cNvGrpSpPr/>
        <p:nvPr/>
      </p:nvGrpSpPr>
      <p:grpSpPr>
        <a:xfrm xmlns:a="http://schemas.openxmlformats.org/drawingml/2006/main"/>
      </p:grpSpPr>
      <p:sp>
        <p:nvSpPr>
          <p:cNvPr id="6" name="PACTSHIFT">
            <a:extLst xmlns:a="http://schemas.openxmlformats.org/drawingml/2006/main">
              <a:ext uri="{FF2B5EF4-FFF2-40B4-BE49-F238E27FC236}">
                <a16:creationId xmlns:a16="http://schemas.microsoft.com/office/drawing/2014/main" id="{0398315D-C5FA-4EDB-8364-232ED0C03760}"/>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DFF2AE"/>
                </a:solidFill>
                <a:latin typeface="Arial"/>
                <a:ea typeface="Arial"/>
                <a:cs typeface="Arial"/>
              </a:defRPr>
            </a:pPr>
            <a:r>
              <a:rPr sz="1350" b="1">
                <a:solidFill>
                  <a:srgbClr val="DFF2AE"/>
                </a:solidFill>
                <a:latin typeface="Arial"/>
                <a:ea typeface="Arial"/>
                <a:cs typeface="Arial"/>
              </a:rPr>
              <a:t>PACTSHIFT</a:t>
            </a:r>
          </a:p>
        </p:txBody>
      </p:sp>
      <p:sp>
        <p:nvSpPr>
          <p:cNvPr id="2" name="01">
            <a:extLst xmlns:a="http://schemas.openxmlformats.org/drawingml/2006/main">
              <a:ext uri="{FF2B5EF4-FFF2-40B4-BE49-F238E27FC236}">
                <a16:creationId xmlns:a16="http://schemas.microsoft.com/office/drawing/2014/main" id="{423E939C-4E57-489B-B472-F12A9249F2BE}"/>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DFF2AE"/>
                </a:solidFill>
                <a:latin typeface="Arial"/>
                <a:ea typeface="Arial"/>
                <a:cs typeface="Arial"/>
              </a:defRPr>
            </a:pPr>
            <a:r>
              <a:rPr sz="1350" b="0">
                <a:solidFill>
                  <a:srgbClr val="DFF2AE"/>
                </a:solidFill>
                <a:latin typeface="Arial"/>
                <a:ea typeface="Arial"/>
                <a:cs typeface="Arial"/>
              </a:rPr>
              <a:t>01</a:t>
            </a:r>
          </a:p>
        </p:txBody>
      </p:sp>
      <p:sp>
        <p:nvSpPr>
          <p:cNvPr id="3" name="Pactshift">
            <a:extLst xmlns:a="http://schemas.openxmlformats.org/drawingml/2006/main">
              <a:ext uri="{FF2B5EF4-FFF2-40B4-BE49-F238E27FC236}">
                <a16:creationId xmlns:a16="http://schemas.microsoft.com/office/drawing/2014/main" id="{3A109569-4C29-46C6-AC6F-1233C2EF5BD7}"/>
              </a:ext>
            </a:extLst>
          </p:cNvPr>
          <p:cNvSpPr>
            <a:spLocks xmlns:a="http://schemas.openxmlformats.org/drawingml/2006/main" noGrp="1"/>
          </p:cNvSpPr>
          <p:nvPr/>
        </p:nvSpPr>
        <p:spPr>
          <a:xfrm xmlns:a="http://schemas.openxmlformats.org/drawingml/2006/main">
            <a:off x="609600" y="1524000"/>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400" b="1">
                <a:solidFill>
                  <a:srgbClr val="F7F8F5"/>
                </a:solidFill>
                <a:latin typeface="Arial"/>
                <a:ea typeface="Arial"/>
                <a:cs typeface="Arial"/>
              </a:defRPr>
            </a:pPr>
            <a:r>
              <a:rPr sz="8400" b="1">
                <a:solidFill>
                  <a:srgbClr val="F7F8F5"/>
                </a:solidFill>
                <a:latin typeface="Arial"/>
                <a:ea typeface="Arial"/>
                <a:cs typeface="Arial"/>
              </a:rPr>
              <a:t>Pactshift</a:t>
            </a:r>
          </a:p>
        </p:txBody>
      </p:sp>
      <p:sp>
        <p:nvSpPr>
          <p:cNvPr id="4" name="Scope changes your&#10;clients can approve">
            <a:extLst xmlns:a="http://schemas.openxmlformats.org/drawingml/2006/main">
              <a:ext uri="{FF2B5EF4-FFF2-40B4-BE49-F238E27FC236}">
                <a16:creationId xmlns:a16="http://schemas.microsoft.com/office/drawing/2014/main" id="{486CB43F-F9F0-4358-8CE9-62E68A6BA212}"/>
              </a:ext>
            </a:extLst>
          </p:cNvPr>
          <p:cNvSpPr>
            <a:spLocks xmlns:a="http://schemas.openxmlformats.org/drawingml/2006/main" noGrp="1"/>
          </p:cNvSpPr>
          <p:nvPr/>
        </p:nvSpPr>
        <p:spPr>
          <a:xfrm xmlns:a="http://schemas.openxmlformats.org/drawingml/2006/main">
            <a:off x="647700" y="32385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a:solidFill>
                  <a:srgbClr val="DFF2AE"/>
                </a:solidFill>
                <a:latin typeface="Georgia"/>
                <a:ea typeface="Georgia"/>
                <a:cs typeface="Georgia"/>
              </a:defRPr>
            </a:pPr>
            <a:r>
              <a:rPr sz="4275" b="0">
                <a:solidFill>
                  <a:srgbClr val="DFF2AE"/>
                </a:solidFill>
                <a:latin typeface="Georgia"/>
                <a:ea typeface="Georgia"/>
                <a:cs typeface="Georgia"/>
              </a:rPr>
              <a:t>Scope changes your</a:t>
            </a:r>
          </a:p>
          <a:p xmlns:a="http://schemas.openxmlformats.org/drawingml/2006/main">
            <a:pPr>
              <a:defRPr sz="4275" b="0">
                <a:solidFill>
                  <a:srgbClr val="DFF2AE"/>
                </a:solidFill>
                <a:latin typeface="Georgia"/>
                <a:ea typeface="Georgia"/>
                <a:cs typeface="Georgia"/>
              </a:defRPr>
            </a:pPr>
            <a:r>
              <a:rPr sz="4275" b="0">
                <a:solidFill>
                  <a:srgbClr val="DFF2AE"/>
                </a:solidFill>
                <a:latin typeface="Georgia"/>
                <a:ea typeface="Georgia"/>
                <a:cs typeface="Georgia"/>
              </a:rPr>
              <a:t>clients can approve</a:t>
            </a:r>
          </a:p>
        </p:txBody>
      </p:sp>
      <p:sp>
        <p:nvSpPr>
          <p:cNvPr id="5" name="Shivam Gupta  /  Founder and builder">
            <a:extLst xmlns:a="http://schemas.openxmlformats.org/drawingml/2006/main">
              <a:ext uri="{FF2B5EF4-FFF2-40B4-BE49-F238E27FC236}">
                <a16:creationId xmlns:a16="http://schemas.microsoft.com/office/drawing/2014/main" id="{CA7D8325-A9CB-4E5D-9EA9-61C82B24F72B}"/>
              </a:ext>
            </a:extLst>
          </p:cNvPr>
          <p:cNvSpPr>
            <a:spLocks xmlns:a="http://schemas.openxmlformats.org/drawingml/2006/main" noGrp="1"/>
          </p:cNvSpPr>
          <p:nvPr/>
        </p:nvSpPr>
        <p:spPr>
          <a:xfrm xmlns:a="http://schemas.openxmlformats.org/drawingml/2006/main">
            <a:off x="647700" y="57626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7F8F5"/>
                </a:solidFill>
                <a:latin typeface="Arial"/>
                <a:ea typeface="Arial"/>
                <a:cs typeface="Arial"/>
              </a:defRPr>
            </a:pPr>
            <a:r>
              <a:rPr sz="1800" b="0">
                <a:solidFill>
                  <a:srgbClr val="F7F8F5"/>
                </a:solidFill>
                <a:latin typeface="Arial"/>
                <a:ea typeface="Arial"/>
                <a:cs typeface="Arial"/>
              </a:rPr>
              <a:t>Shivam Gupta  /  Founder and builder</a:t>
            </a:r>
          </a:p>
        </p:txBody>
      </p:sp>
    </p:spTree>
    <p:extLst>
      <p:ext uri="{BB962C8B-B14F-4D97-AF65-F5344CB8AC3E}">
        <p14:creationId xmlns:p14="http://schemas.microsoft.com/office/powerpoint/2010/main" val="450692456"/>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PACTSHIFT">
            <a:extLst xmlns:a="http://schemas.openxmlformats.org/drawingml/2006/main">
              <a:ext uri="{FF2B5EF4-FFF2-40B4-BE49-F238E27FC236}">
                <a16:creationId xmlns:a16="http://schemas.microsoft.com/office/drawing/2014/main" id="{F9DBBAC0-8468-4A7C-8A06-58F1F4B9FA11}"/>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167D5A"/>
                </a:solidFill>
                <a:latin typeface="Arial"/>
                <a:ea typeface="Arial"/>
                <a:cs typeface="Arial"/>
              </a:defRPr>
            </a:pPr>
            <a:r>
              <a:rPr sz="1350" b="1">
                <a:solidFill>
                  <a:srgbClr val="167D5A"/>
                </a:solidFill>
                <a:latin typeface="Arial"/>
                <a:ea typeface="Arial"/>
                <a:cs typeface="Arial"/>
              </a:rPr>
              <a:t>PACTSHIFT</a:t>
            </a:r>
          </a:p>
        </p:txBody>
      </p:sp>
      <p:sp>
        <p:nvSpPr>
          <p:cNvPr id="2" name="02">
            <a:extLst xmlns:a="http://schemas.openxmlformats.org/drawingml/2006/main">
              <a:ext uri="{FF2B5EF4-FFF2-40B4-BE49-F238E27FC236}">
                <a16:creationId xmlns:a16="http://schemas.microsoft.com/office/drawing/2014/main" id="{DAA08ECF-934A-44FB-8B76-82DEBB20FBB3}"/>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E716A"/>
                </a:solidFill>
                <a:latin typeface="Arial"/>
                <a:ea typeface="Arial"/>
                <a:cs typeface="Arial"/>
              </a:defRPr>
            </a:pPr>
            <a:r>
              <a:rPr sz="1350" b="0">
                <a:solidFill>
                  <a:srgbClr val="5E716A"/>
                </a:solidFill>
                <a:latin typeface="Arial"/>
                <a:ea typeface="Arial"/>
                <a:cs typeface="Arial"/>
              </a:rPr>
              <a:t>02</a:t>
            </a:r>
          </a:p>
        </p:txBody>
      </p:sp>
      <p:sp>
        <p:nvSpPr>
          <p:cNvPr id="3" name="The cost of “one more thing”">
            <a:extLst xmlns:a="http://schemas.openxmlformats.org/drawingml/2006/main">
              <a:ext uri="{FF2B5EF4-FFF2-40B4-BE49-F238E27FC236}">
                <a16:creationId xmlns:a16="http://schemas.microsoft.com/office/drawing/2014/main" id="{B5DA0A88-5B04-48DF-B66F-B3561C1B788E}"/>
              </a:ext>
            </a:extLst>
          </p:cNvPr>
          <p:cNvSpPr>
            <a:spLocks xmlns:a="http://schemas.openxmlformats.org/drawingml/2006/main" noGrp="1"/>
          </p:cNvSpPr>
          <p:nvPr/>
        </p:nvSpPr>
        <p:spPr>
          <a:xfrm xmlns:a="http://schemas.openxmlformats.org/drawingml/2006/main">
            <a:off x="609600" y="9525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72E29"/>
                </a:solidFill>
                <a:latin typeface="Arial"/>
                <a:ea typeface="Arial"/>
                <a:cs typeface="Arial"/>
              </a:defRPr>
            </a:pPr>
            <a:r>
              <a:rPr sz="3900" b="1">
                <a:solidFill>
                  <a:srgbClr val="172E29"/>
                </a:solidFill>
                <a:latin typeface="Arial"/>
                <a:ea typeface="Arial"/>
                <a:cs typeface="Arial"/>
              </a:rPr>
              <a:t>The cost of “one more thing”</a:t>
            </a:r>
          </a:p>
        </p:txBody>
      </p:sp>
      <p:sp>
        <p:nvSpPr>
          <p:cNvPr id="4" name="“Could we add Spanish pages&#10;before launch?”">
            <a:extLst xmlns:a="http://schemas.openxmlformats.org/drawingml/2006/main">
              <a:ext uri="{FF2B5EF4-FFF2-40B4-BE49-F238E27FC236}">
                <a16:creationId xmlns:a16="http://schemas.microsoft.com/office/drawing/2014/main" id="{BDF25BE5-03E0-473E-B012-0A30193C5E67}"/>
              </a:ext>
            </a:extLst>
          </p:cNvPr>
          <p:cNvSpPr>
            <a:spLocks xmlns:a="http://schemas.openxmlformats.org/drawingml/2006/main" noGrp="1"/>
          </p:cNvSpPr>
          <p:nvPr/>
        </p:nvSpPr>
        <p:spPr>
          <a:xfrm xmlns:a="http://schemas.openxmlformats.org/drawingml/2006/main">
            <a:off x="628650" y="2400300"/>
            <a:ext cx="5191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172E29"/>
                </a:solidFill>
                <a:latin typeface="Georgia"/>
                <a:ea typeface="Georgia"/>
                <a:cs typeface="Georgia"/>
              </a:defRPr>
            </a:pPr>
            <a:r>
              <a:rPr sz="2850" b="0">
                <a:solidFill>
                  <a:srgbClr val="172E29"/>
                </a:solidFill>
                <a:latin typeface="Georgia"/>
                <a:ea typeface="Georgia"/>
                <a:cs typeface="Georgia"/>
              </a:rPr>
              <a:t>“Could we add Spanish pages</a:t>
            </a:r>
          </a:p>
          <a:p xmlns:a="http://schemas.openxmlformats.org/drawingml/2006/main">
            <a:pPr>
              <a:defRPr sz="2850" b="0">
                <a:solidFill>
                  <a:srgbClr val="172E29"/>
                </a:solidFill>
                <a:latin typeface="Georgia"/>
                <a:ea typeface="Georgia"/>
                <a:cs typeface="Georgia"/>
              </a:defRPr>
            </a:pPr>
            <a:r>
              <a:rPr sz="2850" b="0">
                <a:solidFill>
                  <a:srgbClr val="172E29"/>
                </a:solidFill>
                <a:latin typeface="Georgia"/>
                <a:ea typeface="Georgia"/>
                <a:cs typeface="Georgia"/>
              </a:rPr>
              <a:t>before launch?”</a:t>
            </a:r>
          </a:p>
        </p:txBody>
      </p:sp>
      <p:sp>
        <p:nvSpPr>
          <p:cNvPr id="5" name="A 12-hour request adds $720&#10;of estimated delivery labor">
            <a:extLst xmlns:a="http://schemas.openxmlformats.org/drawingml/2006/main">
              <a:ext uri="{FF2B5EF4-FFF2-40B4-BE49-F238E27FC236}">
                <a16:creationId xmlns:a16="http://schemas.microsoft.com/office/drawing/2014/main" id="{34920309-EADA-46F3-9CA4-67E8E0077399}"/>
              </a:ext>
            </a:extLst>
          </p:cNvPr>
          <p:cNvSpPr>
            <a:spLocks xmlns:a="http://schemas.openxmlformats.org/drawingml/2006/main" noGrp="1"/>
          </p:cNvSpPr>
          <p:nvPr/>
        </p:nvSpPr>
        <p:spPr>
          <a:xfrm xmlns:a="http://schemas.openxmlformats.org/drawingml/2006/main">
            <a:off x="628650" y="414337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5E716A"/>
                </a:solidFill>
                <a:latin typeface="Arial"/>
                <a:ea typeface="Arial"/>
                <a:cs typeface="Arial"/>
              </a:defRPr>
            </a:pPr>
            <a:r>
              <a:rPr sz="2100" b="0">
                <a:solidFill>
                  <a:srgbClr val="5E716A"/>
                </a:solidFill>
                <a:latin typeface="Arial"/>
                <a:ea typeface="Arial"/>
                <a:cs typeface="Arial"/>
              </a:rPr>
              <a:t>A 12-hour request adds $720</a:t>
            </a:r>
          </a:p>
          <a:p xmlns:a="http://schemas.openxmlformats.org/drawingml/2006/main">
            <a:pPr>
              <a:defRPr sz="2100" b="0">
                <a:solidFill>
                  <a:srgbClr val="5E716A"/>
                </a:solidFill>
                <a:latin typeface="Arial"/>
                <a:ea typeface="Arial"/>
                <a:cs typeface="Arial"/>
              </a:defRPr>
            </a:pPr>
            <a:r>
              <a:rPr sz="2100" b="0">
                <a:solidFill>
                  <a:srgbClr val="5E716A"/>
                </a:solidFill>
                <a:latin typeface="Arial"/>
                <a:ea typeface="Arial"/>
                <a:cs typeface="Arial"/>
              </a:rPr>
              <a:t>of estimated delivery labor.</a:t>
            </a:r>
          </a:p>
        </p:txBody>
      </p:sp>
      <p:sp>
        <p:nvSpPr>
          <p:cNvPr id="6" name="A fixed fee stays fixed until&#10;someone changes the agree">
            <a:extLst xmlns:a="http://schemas.openxmlformats.org/drawingml/2006/main">
              <a:ext uri="{FF2B5EF4-FFF2-40B4-BE49-F238E27FC236}">
                <a16:creationId xmlns:a16="http://schemas.microsoft.com/office/drawing/2014/main" id="{7F7DB79A-C515-4DB6-BC0C-AF4E48F17390}"/>
              </a:ext>
            </a:extLst>
          </p:cNvPr>
          <p:cNvSpPr>
            <a:spLocks xmlns:a="http://schemas.openxmlformats.org/drawingml/2006/main" noGrp="1"/>
          </p:cNvSpPr>
          <p:nvPr/>
        </p:nvSpPr>
        <p:spPr>
          <a:xfrm xmlns:a="http://schemas.openxmlformats.org/drawingml/2006/main">
            <a:off x="628650" y="523875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2E29"/>
                </a:solidFill>
                <a:latin typeface="Arial"/>
                <a:ea typeface="Arial"/>
                <a:cs typeface="Arial"/>
              </a:defRPr>
            </a:pPr>
            <a:r>
              <a:rPr sz="2100" b="1">
                <a:solidFill>
                  <a:srgbClr val="172E29"/>
                </a:solidFill>
                <a:latin typeface="Arial"/>
                <a:ea typeface="Arial"/>
                <a:cs typeface="Arial"/>
              </a:rPr>
              <a:t>A fixed fee stays fixed until</a:t>
            </a:r>
          </a:p>
          <a:p xmlns:a="http://schemas.openxmlformats.org/drawingml/2006/main">
            <a:pPr>
              <a:defRPr sz="2100" b="1">
                <a:solidFill>
                  <a:srgbClr val="172E29"/>
                </a:solidFill>
                <a:latin typeface="Arial"/>
                <a:ea typeface="Arial"/>
                <a:cs typeface="Arial"/>
              </a:defRPr>
            </a:pPr>
            <a:r>
              <a:rPr sz="2100" b="1">
                <a:solidFill>
                  <a:srgbClr val="172E29"/>
                </a:solidFill>
                <a:latin typeface="Arial"/>
                <a:ea typeface="Arial"/>
                <a:cs typeface="Arial"/>
              </a:rPr>
              <a:t>someone changes the agreement.</a:t>
            </a:r>
          </a:p>
        </p:txBody>
      </p:sp>
      <p:graphicFrame>
        <p:nvGraphicFramePr>
          <p:cNvPr id="16" name="Chart"/>
          <p:cNvGraphicFramePr/>
          <p:nvPr/>
        </p:nvGraphicFramePr>
        <p:xfrm>
          <a:off xmlns:a="http://schemas.openxmlformats.org/drawingml/2006/main" x="6238875" y="2343150"/>
          <a:ext xmlns:a="http://schemas.openxmlformats.org/drawingml/2006/main" cx="5143500" cy="2952750"/>
        </p:xfrm>
        <a:graphic xmlns:a="http://schemas.openxmlformats.org/drawingml/2006/main">
          <a:graphicData uri="http://schemas.openxmlformats.org/drawingml/2006/chart">
            <c:chart xmlns:r="http://schemas.openxmlformats.org/officeDocument/2006/relationships" xmlns:c="http://schemas.openxmlformats.org/drawingml/2006/chart" r:id="R1a4829e784274ba5"/>
          </a:graphicData>
        </a:graphic>
      </p:graphicFrame>
      <p:sp>
        <p:nvSpPr>
          <p:cNvPr id="8" name="Margin after delivery labor (illustrative)">
            <a:extLst xmlns:a="http://schemas.openxmlformats.org/drawingml/2006/main">
              <a:ext uri="{FF2B5EF4-FFF2-40B4-BE49-F238E27FC236}">
                <a16:creationId xmlns:a16="http://schemas.microsoft.com/office/drawing/2014/main" id="{CBC71316-CC29-4ACE-909B-EE1AD3A3AF88}"/>
              </a:ext>
            </a:extLst>
          </p:cNvPr>
          <p:cNvSpPr>
            <a:spLocks xmlns:a="http://schemas.openxmlformats.org/drawingml/2006/main" noGrp="1"/>
          </p:cNvSpPr>
          <p:nvPr/>
        </p:nvSpPr>
        <p:spPr>
          <a:xfrm xmlns:a="http://schemas.openxmlformats.org/drawingml/2006/main">
            <a:off x="6429375" y="55245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E716A"/>
                </a:solidFill>
                <a:latin typeface="Arial"/>
                <a:ea typeface="Arial"/>
                <a:cs typeface="Arial"/>
              </a:defRPr>
            </a:pPr>
            <a:r>
              <a:rPr sz="1500" b="0">
                <a:solidFill>
                  <a:srgbClr val="5E716A"/>
                </a:solidFill>
                <a:latin typeface="Arial"/>
                <a:ea typeface="Arial"/>
                <a:cs typeface="Arial"/>
              </a:rPr>
              <a:t>Margin after delivery labor (illustrative)</a:t>
            </a:r>
          </a:p>
        </p:txBody>
      </p:sp>
      <p:sp>
        <p:nvSpPr>
          <p:cNvPr id="9" name="$12,000 fee, 96h at $60/h delivery cost.">
            <a:extLst xmlns:a="http://schemas.openxmlformats.org/drawingml/2006/main">
              <a:ext uri="{FF2B5EF4-FFF2-40B4-BE49-F238E27FC236}">
                <a16:creationId xmlns:a16="http://schemas.microsoft.com/office/drawing/2014/main" id="{EF9EA3B1-0B53-4F07-B4EB-A4C1459A4AE3}"/>
              </a:ext>
            </a:extLst>
          </p:cNvPr>
          <p:cNvSpPr>
            <a:spLocks xmlns:a="http://schemas.openxmlformats.org/drawingml/2006/main" noGrp="1"/>
          </p:cNvSpPr>
          <p:nvPr/>
        </p:nvSpPr>
        <p:spPr>
          <a:xfrm xmlns:a="http://schemas.openxmlformats.org/drawingml/2006/main">
            <a:off x="6429375" y="58864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E716A"/>
                </a:solidFill>
                <a:latin typeface="Arial"/>
                <a:ea typeface="Arial"/>
                <a:cs typeface="Arial"/>
              </a:defRPr>
            </a:pPr>
            <a:r>
              <a:rPr sz="1350" b="0">
                <a:solidFill>
                  <a:srgbClr val="5E716A"/>
                </a:solidFill>
                <a:latin typeface="Arial"/>
                <a:ea typeface="Arial"/>
                <a:cs typeface="Arial"/>
              </a:rPr>
              <a:t>$12,000 fee, 96h at $60/h delivery cost.</a:t>
            </a:r>
          </a:p>
        </p:txBody>
      </p:sp>
    </p:spTree>
    <p:extLst>
      <p:ext uri="{BB962C8B-B14F-4D97-AF65-F5344CB8AC3E}">
        <p14:creationId xmlns:p14="http://schemas.microsoft.com/office/powerpoint/2010/main" val="389234701"/>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PACTSHIFT">
            <a:extLst xmlns:a="http://schemas.openxmlformats.org/drawingml/2006/main">
              <a:ext uri="{FF2B5EF4-FFF2-40B4-BE49-F238E27FC236}">
                <a16:creationId xmlns:a16="http://schemas.microsoft.com/office/drawing/2014/main" id="{50B12909-0CF7-4292-BD6D-1DEFEC33528C}"/>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167D5A"/>
                </a:solidFill>
                <a:latin typeface="Arial"/>
                <a:ea typeface="Arial"/>
                <a:cs typeface="Arial"/>
              </a:defRPr>
            </a:pPr>
            <a:r>
              <a:rPr sz="1350" b="1">
                <a:solidFill>
                  <a:srgbClr val="167D5A"/>
                </a:solidFill>
                <a:latin typeface="Arial"/>
                <a:ea typeface="Arial"/>
                <a:cs typeface="Arial"/>
              </a:rPr>
              <a:t>PACTSHIFT</a:t>
            </a:r>
          </a:p>
        </p:txBody>
      </p:sp>
      <p:sp>
        <p:nvSpPr>
          <p:cNvPr id="2" name="03">
            <a:extLst xmlns:a="http://schemas.openxmlformats.org/drawingml/2006/main">
              <a:ext uri="{FF2B5EF4-FFF2-40B4-BE49-F238E27FC236}">
                <a16:creationId xmlns:a16="http://schemas.microsoft.com/office/drawing/2014/main" id="{5B1DABE6-EC23-4603-A0CA-9D7F087C5F89}"/>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E716A"/>
                </a:solidFill>
                <a:latin typeface="Arial"/>
                <a:ea typeface="Arial"/>
                <a:cs typeface="Arial"/>
              </a:defRPr>
            </a:pPr>
            <a:r>
              <a:rPr sz="1350" b="0">
                <a:solidFill>
                  <a:srgbClr val="5E716A"/>
                </a:solidFill>
                <a:latin typeface="Arial"/>
                <a:ea typeface="Arial"/>
                <a:cs typeface="Arial"/>
              </a:rPr>
              <a:t>03</a:t>
            </a:r>
          </a:p>
        </p:txBody>
      </p:sp>
      <p:sp>
        <p:nvSpPr>
          <p:cNvPr id="3" name="A request becomes a clear choice">
            <a:extLst xmlns:a="http://schemas.openxmlformats.org/drawingml/2006/main">
              <a:ext uri="{FF2B5EF4-FFF2-40B4-BE49-F238E27FC236}">
                <a16:creationId xmlns:a16="http://schemas.microsoft.com/office/drawing/2014/main" id="{013A20D9-1DC7-4892-9606-C3822DCE5BD4}"/>
              </a:ext>
            </a:extLst>
          </p:cNvPr>
          <p:cNvSpPr>
            <a:spLocks xmlns:a="http://schemas.openxmlformats.org/drawingml/2006/main" noGrp="1"/>
          </p:cNvSpPr>
          <p:nvPr/>
        </p:nvSpPr>
        <p:spPr>
          <a:xfrm xmlns:a="http://schemas.openxmlformats.org/drawingml/2006/main">
            <a:off x="609600" y="9525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72E29"/>
                </a:solidFill>
                <a:latin typeface="Arial"/>
                <a:ea typeface="Arial"/>
                <a:cs typeface="Arial"/>
              </a:defRPr>
            </a:pPr>
            <a:r>
              <a:rPr sz="3900" b="1">
                <a:solidFill>
                  <a:srgbClr val="172E29"/>
                </a:solidFill>
                <a:latin typeface="Arial"/>
                <a:ea typeface="Arial"/>
                <a:cs typeface="Arial"/>
              </a:rPr>
              <a:t>A request becomes a clear choice</a:t>
            </a:r>
          </a:p>
        </p:txBody>
      </p:sp>
      <p:graphicFrame>
        <p:nvGraphicFramePr>
          <p:cNvPr id="10" name=""/>
          <p:cNvGraphicFramePr/>
          <p:nvPr/>
        </p:nvGraphicFramePr>
        <p:xfrm>
          <a:off xmlns:a="http://schemas.openxmlformats.org/drawingml/2006/main" x="609600" y="2476500"/>
          <a:ext xmlns:a="http://schemas.openxmlformats.org/drawingml/2006/main" cx="10972800" cy="2571750"/>
        </p:xfrm>
        <a:graphic xmlns:a="http://schemas.openxmlformats.org/drawingml/2006/main">
          <a:graphicData uri="http://schemas.openxmlformats.org/drawingml/2006/table">
            <a:tbl>
              <a:tblPr/>
              <a:tblGrid>
                <a:gridCol w="2190750"/>
                <a:gridCol w="4143375"/>
                <a:gridCol w="4638675"/>
              </a:tblGrid>
              <a:tr h="642938">
                <a:tc>
                  <a:txBody>
                    <a:bodyPr/>
                    <a:lstStyle/>
                    <a:p>
                      <a:r>
                        <a:rPr sz="1575" b="1">
                          <a:solidFill>
                            <a:srgbClr val="FFFFFF"/>
                          </a:solidFill>
                          <a:latin typeface="Arial"/>
                          <a:ea typeface="Arial"/>
                          <a:cs typeface="Arial"/>
                        </a:rPr>
                        <a:t>Client choice</a:t>
                      </a:r>
                    </a:p>
                  </a:txBody>
                  <a:tcPr marL="171450" marR="171450" marT="142875" marB="142875">
                    <a:solidFill>
                      <a:srgbClr val="172E29"/>
                    </a:solidFill>
                  </a:tcPr>
                </a:tc>
                <a:tc>
                  <a:txBody>
                    <a:bodyPr/>
                    <a:lstStyle/>
                    <a:p>
                      <a:r>
                        <a:rPr sz="1575" b="1">
                          <a:solidFill>
                            <a:srgbClr val="FFFFFF"/>
                          </a:solidFill>
                          <a:latin typeface="Arial"/>
                          <a:ea typeface="Arial"/>
                          <a:cs typeface="Arial"/>
                        </a:rPr>
                        <a:t>Trade-off</a:t>
                      </a:r>
                    </a:p>
                  </a:txBody>
                  <a:tcPr marL="171450" marR="171450" marT="142875" marB="142875">
                    <a:solidFill>
                      <a:srgbClr val="172E29"/>
                    </a:solidFill>
                  </a:tcPr>
                </a:tc>
                <a:tc>
                  <a:txBody>
                    <a:bodyPr/>
                    <a:lstStyle/>
                    <a:p>
                      <a:r>
                        <a:rPr sz="1575" b="1">
                          <a:solidFill>
                            <a:srgbClr val="FFFFFF"/>
                          </a:solidFill>
                          <a:latin typeface="Arial"/>
                          <a:ea typeface="Arial"/>
                          <a:cs typeface="Arial"/>
                        </a:rPr>
                        <a:t>Project result</a:t>
                      </a:r>
                    </a:p>
                  </a:txBody>
                  <a:tcPr marL="171450" marR="171450" marT="142875" marB="142875">
                    <a:solidFill>
                      <a:srgbClr val="172E29"/>
                    </a:solidFill>
                  </a:tcPr>
                </a:tc>
              </a:tr>
              <a:tr h="642938">
                <a:tc>
                  <a:txBody>
                    <a:bodyPr/>
                    <a:lstStyle/>
                    <a:p>
                      <a:r>
                        <a:rPr sz="1800">
                          <a:solidFill>
                            <a:srgbClr val="172E29"/>
                          </a:solidFill>
                          <a:latin typeface="Arial"/>
                          <a:ea typeface="Arial"/>
                          <a:cs typeface="Arial"/>
                        </a:rPr>
                        <a:t>Add</a:t>
                      </a:r>
                    </a:p>
                  </a:txBody>
                  <a:tcPr marL="171450" marR="171450" marT="142875" marB="142875">
                    <a:solidFill>
                      <a:srgbClr val="F7F8F5"/>
                    </a:solidFill>
                  </a:tcPr>
                </a:tc>
                <a:tc>
                  <a:txBody>
                    <a:bodyPr/>
                    <a:lstStyle/>
                    <a:p>
                      <a:r>
                        <a:rPr sz="1800">
                          <a:solidFill>
                            <a:srgbClr val="172E29"/>
                          </a:solidFill>
                          <a:latin typeface="Arial"/>
                          <a:ea typeface="Arial"/>
                          <a:cs typeface="Arial"/>
                        </a:rPr>
                        <a:t>+$1,500 for 12 hours</a:t>
                      </a:r>
                    </a:p>
                  </a:txBody>
                  <a:tcPr marL="171450" marR="171450" marT="142875" marB="142875">
                    <a:solidFill>
                      <a:srgbClr val="F7F8F5"/>
                    </a:solidFill>
                  </a:tcPr>
                </a:tc>
                <a:tc>
                  <a:txBody>
                    <a:bodyPr/>
                    <a:lstStyle/>
                    <a:p>
                      <a:r>
                        <a:rPr sz="1800">
                          <a:solidFill>
                            <a:srgbClr val="172E29"/>
                          </a:solidFill>
                          <a:latin typeface="Arial"/>
                          <a:ea typeface="Arial"/>
                          <a:cs typeface="Arial"/>
                        </a:rPr>
                        <a:t>Budget and scope increase</a:t>
                      </a:r>
                    </a:p>
                  </a:txBody>
                  <a:tcPr marL="171450" marR="171450" marT="142875" marB="142875">
                    <a:solidFill>
                      <a:srgbClr val="F7F8F5"/>
                    </a:solidFill>
                  </a:tcPr>
                </a:tc>
              </a:tr>
              <a:tr h="642938">
                <a:tc>
                  <a:txBody>
                    <a:bodyPr/>
                    <a:lstStyle/>
                    <a:p>
                      <a:r>
                        <a:rPr sz="1800">
                          <a:solidFill>
                            <a:srgbClr val="172E29"/>
                          </a:solidFill>
                          <a:latin typeface="Arial"/>
                          <a:ea typeface="Arial"/>
                          <a:cs typeface="Arial"/>
                        </a:rPr>
                        <a:t>Swap</a:t>
                      </a:r>
                    </a:p>
                  </a:txBody>
                  <a:tcPr marL="171450" marR="171450" marT="142875" marB="142875">
                    <a:solidFill>
                      <a:srgbClr val="F7F8F5"/>
                    </a:solidFill>
                  </a:tcPr>
                </a:tc>
                <a:tc>
                  <a:txBody>
                    <a:bodyPr/>
                    <a:lstStyle/>
                    <a:p>
                      <a:r>
                        <a:rPr sz="1800">
                          <a:solidFill>
                            <a:srgbClr val="172E29"/>
                          </a:solidFill>
                          <a:latin typeface="Arial"/>
                          <a:ea typeface="Arial"/>
                          <a:cs typeface="Arial"/>
                        </a:rPr>
                        <a:t>Replace 16 hours of eligible work</a:t>
                      </a:r>
                    </a:p>
                  </a:txBody>
                  <a:tcPr marL="171450" marR="171450" marT="142875" marB="142875">
                    <a:solidFill>
                      <a:srgbClr val="F7F8F5"/>
                    </a:solidFill>
                  </a:tcPr>
                </a:tc>
                <a:tc>
                  <a:txBody>
                    <a:bodyPr/>
                    <a:lstStyle/>
                    <a:p>
                      <a:r>
                        <a:rPr sz="1800">
                          <a:solidFill>
                            <a:srgbClr val="172E29"/>
                          </a:solidFill>
                          <a:latin typeface="Arial"/>
                          <a:ea typeface="Arial"/>
                          <a:cs typeface="Arial"/>
                        </a:rPr>
                        <a:t>New scope, same budget</a:t>
                      </a:r>
                    </a:p>
                  </a:txBody>
                  <a:tcPr marL="171450" marR="171450" marT="142875" marB="142875">
                    <a:solidFill>
                      <a:srgbClr val="F7F8F5"/>
                    </a:solidFill>
                  </a:tcPr>
                </a:tc>
              </a:tr>
              <a:tr h="642938">
                <a:tc>
                  <a:txBody>
                    <a:bodyPr/>
                    <a:lstStyle/>
                    <a:p>
                      <a:r>
                        <a:rPr sz="1800">
                          <a:solidFill>
                            <a:srgbClr val="172E29"/>
                          </a:solidFill>
                          <a:latin typeface="Arial"/>
                          <a:ea typeface="Arial"/>
                          <a:cs typeface="Arial"/>
                        </a:rPr>
                        <a:t>Defer</a:t>
                      </a:r>
                    </a:p>
                  </a:txBody>
                  <a:tcPr marL="171450" marR="171450" marT="142875" marB="142875">
                    <a:solidFill>
                      <a:srgbClr val="F7F8F5"/>
                    </a:solidFill>
                  </a:tcPr>
                </a:tc>
                <a:tc>
                  <a:txBody>
                    <a:bodyPr/>
                    <a:lstStyle/>
                    <a:p>
                      <a:r>
                        <a:rPr sz="1800">
                          <a:solidFill>
                            <a:srgbClr val="172E29"/>
                          </a:solidFill>
                          <a:latin typeface="Arial"/>
                          <a:ea typeface="Arial"/>
                          <a:cs typeface="Arial"/>
                        </a:rPr>
                        <a:t>Keep the current plan</a:t>
                      </a:r>
                    </a:p>
                  </a:txBody>
                  <a:tcPr marL="171450" marR="171450" marT="142875" marB="142875">
                    <a:solidFill>
                      <a:srgbClr val="F7F8F5"/>
                    </a:solidFill>
                  </a:tcPr>
                </a:tc>
                <a:tc>
                  <a:txBody>
                    <a:bodyPr/>
                    <a:lstStyle/>
                    <a:p>
                      <a:r>
                        <a:rPr sz="1800">
                          <a:solidFill>
                            <a:srgbClr val="172E29"/>
                          </a:solidFill>
                          <a:latin typeface="Arial"/>
                          <a:ea typeface="Arial"/>
                          <a:cs typeface="Arial"/>
                        </a:rPr>
                        <a:t>Baseline stays unchanged</a:t>
                      </a:r>
                    </a:p>
                  </a:txBody>
                  <a:tcPr marL="171450" marR="171450" marT="142875" marB="142875">
                    <a:solidFill>
                      <a:srgbClr val="F7F8F5"/>
                    </a:solidFill>
                  </a:tcPr>
                </a:tc>
              </a:tr>
            </a:tbl>
          </a:graphicData>
        </a:graphic>
      </p:graphicFrame>
      <p:sp>
        <p:nvSpPr>
          <p:cNvPr id="5" name="Pactshift applies the accepted choice to the project ba">
            <a:extLst xmlns:a="http://schemas.openxmlformats.org/drawingml/2006/main">
              <a:ext uri="{FF2B5EF4-FFF2-40B4-BE49-F238E27FC236}">
                <a16:creationId xmlns:a16="http://schemas.microsoft.com/office/drawing/2014/main" id="{7FC221DF-F425-4052-9DCD-7F9FD6887E18}"/>
              </a:ext>
            </a:extLst>
          </p:cNvPr>
          <p:cNvSpPr>
            <a:spLocks xmlns:a="http://schemas.openxmlformats.org/drawingml/2006/main" noGrp="1"/>
          </p:cNvSpPr>
          <p:nvPr/>
        </p:nvSpPr>
        <p:spPr>
          <a:xfrm xmlns:a="http://schemas.openxmlformats.org/drawingml/2006/main">
            <a:off x="609600" y="53911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67D5A"/>
                </a:solidFill>
                <a:latin typeface="Arial"/>
                <a:ea typeface="Arial"/>
                <a:cs typeface="Arial"/>
              </a:defRPr>
            </a:pPr>
            <a:r>
              <a:rPr sz="2250" b="1">
                <a:solidFill>
                  <a:srgbClr val="167D5A"/>
                </a:solidFill>
                <a:latin typeface="Arial"/>
                <a:ea typeface="Arial"/>
                <a:cs typeface="Arial"/>
              </a:rPr>
              <a:t>Pactshift applies the accepted choice to the project baseline.</a:t>
            </a:r>
          </a:p>
        </p:txBody>
      </p:sp>
      <p:sp>
        <p:nvSpPr>
          <p:cNvPr id="6" name="A share link records the decision. Version checks stop ">
            <a:extLst xmlns:a="http://schemas.openxmlformats.org/drawingml/2006/main">
              <a:ext uri="{FF2B5EF4-FFF2-40B4-BE49-F238E27FC236}">
                <a16:creationId xmlns:a16="http://schemas.microsoft.com/office/drawing/2014/main" id="{58DC3A64-1682-4FBF-AEAF-541D0D4DE211}"/>
              </a:ext>
            </a:extLst>
          </p:cNvPr>
          <p:cNvSpPr>
            <a:spLocks xmlns:a="http://schemas.openxmlformats.org/drawingml/2006/main" noGrp="1"/>
          </p:cNvSpPr>
          <p:nvPr/>
        </p:nvSpPr>
        <p:spPr>
          <a:xfrm xmlns:a="http://schemas.openxmlformats.org/drawingml/2006/main">
            <a:off x="609600" y="60864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E716A"/>
                </a:solidFill>
                <a:latin typeface="Arial"/>
                <a:ea typeface="Arial"/>
                <a:cs typeface="Arial"/>
              </a:defRPr>
            </a:pPr>
            <a:r>
              <a:rPr sz="1650" b="0">
                <a:solidFill>
                  <a:srgbClr val="5E716A"/>
                </a:solidFill>
                <a:latin typeface="Arial"/>
                <a:ea typeface="Arial"/>
                <a:cs typeface="Arial"/>
              </a:rPr>
              <a:t>A share link records the decision. Version checks stop conflicting approvals.</a:t>
            </a:r>
          </a:p>
        </p:txBody>
      </p:sp>
    </p:spTree>
    <p:extLst>
      <p:ext uri="{BB962C8B-B14F-4D97-AF65-F5344CB8AC3E}">
        <p14:creationId xmlns:p14="http://schemas.microsoft.com/office/powerpoint/2010/main" val="237889287"/>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PACTSHIFT">
            <a:extLst xmlns:a="http://schemas.openxmlformats.org/drawingml/2006/main">
              <a:ext uri="{FF2B5EF4-FFF2-40B4-BE49-F238E27FC236}">
                <a16:creationId xmlns:a16="http://schemas.microsoft.com/office/drawing/2014/main" id="{9792C718-5496-44BB-A232-7DCAD8E3F683}"/>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167D5A"/>
                </a:solidFill>
                <a:latin typeface="Arial"/>
                <a:ea typeface="Arial"/>
                <a:cs typeface="Arial"/>
              </a:defRPr>
            </a:pPr>
            <a:r>
              <a:rPr sz="1350" b="1">
                <a:solidFill>
                  <a:srgbClr val="167D5A"/>
                </a:solidFill>
                <a:latin typeface="Arial"/>
                <a:ea typeface="Arial"/>
                <a:cs typeface="Arial"/>
              </a:rPr>
              <a:t>PACTSHIFT</a:t>
            </a:r>
          </a:p>
        </p:txBody>
      </p:sp>
      <p:sp>
        <p:nvSpPr>
          <p:cNvPr id="2" name="04">
            <a:extLst xmlns:a="http://schemas.openxmlformats.org/drawingml/2006/main">
              <a:ext uri="{FF2B5EF4-FFF2-40B4-BE49-F238E27FC236}">
                <a16:creationId xmlns:a16="http://schemas.microsoft.com/office/drawing/2014/main" id="{A0C05BE2-6B69-44DC-8A99-C3F256BBE96F}"/>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E716A"/>
                </a:solidFill>
                <a:latin typeface="Arial"/>
                <a:ea typeface="Arial"/>
                <a:cs typeface="Arial"/>
              </a:defRPr>
            </a:pPr>
            <a:r>
              <a:rPr sz="1350" b="0">
                <a:solidFill>
                  <a:srgbClr val="5E716A"/>
                </a:solidFill>
                <a:latin typeface="Arial"/>
                <a:ea typeface="Arial"/>
                <a:cs typeface="Arial"/>
              </a:rPr>
              <a:t>04</a:t>
            </a:r>
          </a:p>
        </p:txBody>
      </p:sp>
      <p:sp>
        <p:nvSpPr>
          <p:cNvPr id="3" name="The request beside the agreement">
            <a:extLst xmlns:a="http://schemas.openxmlformats.org/drawingml/2006/main">
              <a:ext uri="{FF2B5EF4-FFF2-40B4-BE49-F238E27FC236}">
                <a16:creationId xmlns:a16="http://schemas.microsoft.com/office/drawing/2014/main" id="{D3AA4292-400E-4460-9DD0-CA81B66E4806}"/>
              </a:ext>
            </a:extLst>
          </p:cNvPr>
          <p:cNvSpPr>
            <a:spLocks xmlns:a="http://schemas.openxmlformats.org/drawingml/2006/main" noGrp="1"/>
          </p:cNvSpPr>
          <p:nvPr/>
        </p:nvSpPr>
        <p:spPr>
          <a:xfrm xmlns:a="http://schemas.openxmlformats.org/drawingml/2006/main">
            <a:off x="609600" y="8953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172E29"/>
                </a:solidFill>
                <a:latin typeface="Arial"/>
                <a:ea typeface="Arial"/>
                <a:cs typeface="Arial"/>
              </a:defRPr>
            </a:pPr>
            <a:r>
              <a:rPr sz="3750" b="1">
                <a:solidFill>
                  <a:srgbClr val="172E29"/>
                </a:solidFill>
                <a:latin typeface="Arial"/>
                <a:ea typeface="Arial"/>
                <a:cs typeface="Arial"/>
              </a:rPr>
              <a:t>The request beside the agreement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8f5cadee4c84c91"/>
          <a:stretch xmlns:a="http://schemas.openxmlformats.org/drawingml/2006/main"/>
        </p:blipFill>
        <p:spPr>
          <a:xfrm xmlns:a="http://schemas.openxmlformats.org/drawingml/2006/main">
            <a:off x="1700119" y="1762125"/>
            <a:ext cx="8791763" cy="4381500"/>
          </a:xfrm>
          <a:prstGeom xmlns:a="http://schemas.openxmlformats.org/drawingml/2006/main" prst="rect">
            <a:avLst/>
          </a:prstGeom>
        </p:spPr>
      </p:pic>
      <p:sp>
        <p:nvSpPr>
          <p:cNvPr id="5" name="Actual product workflow using a fictional demonstration">
            <a:extLst xmlns:a="http://schemas.openxmlformats.org/drawingml/2006/main">
              <a:ext uri="{FF2B5EF4-FFF2-40B4-BE49-F238E27FC236}">
                <a16:creationId xmlns:a16="http://schemas.microsoft.com/office/drawing/2014/main" id="{C71592FD-44F7-46A9-99FC-CE9638E00A6E}"/>
              </a:ext>
            </a:extLst>
          </p:cNvPr>
          <p:cNvSpPr>
            <a:spLocks xmlns:a="http://schemas.openxmlformats.org/drawingml/2006/main" noGrp="1"/>
          </p:cNvSpPr>
          <p:nvPr/>
        </p:nvSpPr>
        <p:spPr>
          <a:xfrm xmlns:a="http://schemas.openxmlformats.org/drawingml/2006/main">
            <a:off x="609600" y="6276975"/>
            <a:ext cx="1083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E716A"/>
                </a:solidFill>
                <a:latin typeface="Arial"/>
                <a:ea typeface="Arial"/>
                <a:cs typeface="Arial"/>
              </a:defRPr>
            </a:pPr>
            <a:r>
              <a:rPr sz="1425" b="0">
                <a:solidFill>
                  <a:srgbClr val="5E716A"/>
                </a:solidFill>
                <a:latin typeface="Arial"/>
                <a:ea typeface="Arial"/>
                <a:cs typeface="Arial"/>
              </a:rPr>
              <a:t>Actual product workflow using a fictional demonstration project</a:t>
            </a:r>
          </a:p>
        </p:txBody>
      </p:sp>
    </p:spTree>
    <p:extLst>
      <p:ext uri="{BB962C8B-B14F-4D97-AF65-F5344CB8AC3E}">
        <p14:creationId xmlns:p14="http://schemas.microsoft.com/office/powerpoint/2010/main" val="889751383"/>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5" name="PACTSHIFT">
            <a:extLst xmlns:a="http://schemas.openxmlformats.org/drawingml/2006/main">
              <a:ext uri="{FF2B5EF4-FFF2-40B4-BE49-F238E27FC236}">
                <a16:creationId xmlns:a16="http://schemas.microsoft.com/office/drawing/2014/main" id="{BAABBFE0-44F2-428C-865E-5D107D66F512}"/>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167D5A"/>
                </a:solidFill>
                <a:latin typeface="Arial"/>
                <a:ea typeface="Arial"/>
                <a:cs typeface="Arial"/>
              </a:defRPr>
            </a:pPr>
            <a:r>
              <a:rPr sz="1350" b="1">
                <a:solidFill>
                  <a:srgbClr val="167D5A"/>
                </a:solidFill>
                <a:latin typeface="Arial"/>
                <a:ea typeface="Arial"/>
                <a:cs typeface="Arial"/>
              </a:rPr>
              <a:t>PACTSHIFT</a:t>
            </a:r>
          </a:p>
        </p:txBody>
      </p:sp>
      <p:sp>
        <p:nvSpPr>
          <p:cNvPr id="2" name="05">
            <a:extLst xmlns:a="http://schemas.openxmlformats.org/drawingml/2006/main">
              <a:ext uri="{FF2B5EF4-FFF2-40B4-BE49-F238E27FC236}">
                <a16:creationId xmlns:a16="http://schemas.microsoft.com/office/drawing/2014/main" id="{4EBB639A-AB76-470E-AEE2-CCECA7DEE1F4}"/>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E716A"/>
                </a:solidFill>
                <a:latin typeface="Arial"/>
                <a:ea typeface="Arial"/>
                <a:cs typeface="Arial"/>
              </a:defRPr>
            </a:pPr>
            <a:r>
              <a:rPr sz="1350" b="0">
                <a:solidFill>
                  <a:srgbClr val="5E716A"/>
                </a:solidFill>
                <a:latin typeface="Arial"/>
                <a:ea typeface="Arial"/>
                <a:cs typeface="Arial"/>
              </a:rPr>
              <a:t>05</a:t>
            </a:r>
          </a:p>
        </p:txBody>
      </p:sp>
      <p:sp>
        <p:nvSpPr>
          <p:cNvPr id="3" name="An approval changes the system">
            <a:extLst xmlns:a="http://schemas.openxmlformats.org/drawingml/2006/main">
              <a:ext uri="{FF2B5EF4-FFF2-40B4-BE49-F238E27FC236}">
                <a16:creationId xmlns:a16="http://schemas.microsoft.com/office/drawing/2014/main" id="{E6E70E32-18D5-48A6-9A8A-57CBB3008411}"/>
              </a:ext>
            </a:extLst>
          </p:cNvPr>
          <p:cNvSpPr>
            <a:spLocks xmlns:a="http://schemas.openxmlformats.org/drawingml/2006/main" noGrp="1"/>
          </p:cNvSpPr>
          <p:nvPr/>
        </p:nvSpPr>
        <p:spPr>
          <a:xfrm xmlns:a="http://schemas.openxmlformats.org/drawingml/2006/main">
            <a:off x="609600" y="9525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72E29"/>
                </a:solidFill>
                <a:latin typeface="Arial"/>
                <a:ea typeface="Arial"/>
                <a:cs typeface="Arial"/>
              </a:defRPr>
            </a:pPr>
            <a:r>
              <a:rPr sz="3900" b="1">
                <a:solidFill>
                  <a:srgbClr val="172E29"/>
                </a:solidFill>
                <a:latin typeface="Arial"/>
                <a:ea typeface="Arial"/>
                <a:cs typeface="Arial"/>
              </a:rPr>
              <a:t>An approval changes the system</a:t>
            </a:r>
          </a:p>
        </p:txBody>
      </p:sp>
      <p:sp>
        <p:nvSpPr>
          <p:cNvPr id="4" name="01">
            <a:extLst xmlns:a="http://schemas.openxmlformats.org/drawingml/2006/main">
              <a:ext uri="{FF2B5EF4-FFF2-40B4-BE49-F238E27FC236}">
                <a16:creationId xmlns:a16="http://schemas.microsoft.com/office/drawing/2014/main" id="{967FB4FC-BBF0-4DAE-94C8-AEC6854E8E70}"/>
              </a:ext>
            </a:extLst>
          </p:cNvPr>
          <p:cNvSpPr>
            <a:spLocks xmlns:a="http://schemas.openxmlformats.org/drawingml/2006/main" noGrp="1"/>
          </p:cNvSpPr>
          <p:nvPr/>
        </p:nvSpPr>
        <p:spPr>
          <a:xfrm xmlns:a="http://schemas.openxmlformats.org/drawingml/2006/main">
            <a:off x="609600" y="2343150"/>
            <a:ext cx="114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67D5A"/>
                </a:solidFill>
                <a:latin typeface="Arial"/>
                <a:ea typeface="Arial"/>
                <a:cs typeface="Arial"/>
              </a:defRPr>
            </a:pPr>
            <a:r>
              <a:rPr sz="3300" b="1">
                <a:solidFill>
                  <a:srgbClr val="167D5A"/>
                </a:solidFill>
                <a:latin typeface="Arial"/>
                <a:ea typeface="Arial"/>
                <a:cs typeface="Arial"/>
              </a:rPr>
              <a:t>01</a:t>
            </a:r>
          </a:p>
        </p:txBody>
      </p:sp>
      <p:sp>
        <p:nvSpPr>
          <p:cNvPr id="5" name="Review">
            <a:extLst xmlns:a="http://schemas.openxmlformats.org/drawingml/2006/main">
              <a:ext uri="{FF2B5EF4-FFF2-40B4-BE49-F238E27FC236}">
                <a16:creationId xmlns:a16="http://schemas.microsoft.com/office/drawing/2014/main" id="{70837B72-3427-4F3D-ACF5-DF685D830585}"/>
              </a:ext>
            </a:extLst>
          </p:cNvPr>
          <p:cNvSpPr>
            <a:spLocks xmlns:a="http://schemas.openxmlformats.org/drawingml/2006/main" noGrp="1"/>
          </p:cNvSpPr>
          <p:nvPr/>
        </p:nvSpPr>
        <p:spPr>
          <a:xfrm xmlns:a="http://schemas.openxmlformats.org/drawingml/2006/main">
            <a:off x="609600" y="31051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172E29"/>
                </a:solidFill>
                <a:latin typeface="Arial"/>
                <a:ea typeface="Arial"/>
                <a:cs typeface="Arial"/>
              </a:defRPr>
            </a:pPr>
            <a:r>
              <a:rPr sz="2700" b="1">
                <a:solidFill>
                  <a:srgbClr val="172E29"/>
                </a:solidFill>
                <a:latin typeface="Arial"/>
                <a:ea typeface="Arial"/>
                <a:cs typeface="Arial"/>
              </a:rPr>
              <a:t>Review</a:t>
            </a:r>
          </a:p>
        </p:txBody>
      </p:sp>
      <p:sp>
        <p:nvSpPr>
          <p:cNvPr id="6" name="02">
            <a:extLst xmlns:a="http://schemas.openxmlformats.org/drawingml/2006/main">
              <a:ext uri="{FF2B5EF4-FFF2-40B4-BE49-F238E27FC236}">
                <a16:creationId xmlns:a16="http://schemas.microsoft.com/office/drawing/2014/main" id="{30FB5A64-9AEE-4252-A27F-AF966C4B0826}"/>
              </a:ext>
            </a:extLst>
          </p:cNvPr>
          <p:cNvSpPr>
            <a:spLocks xmlns:a="http://schemas.openxmlformats.org/drawingml/2006/main" noGrp="1"/>
          </p:cNvSpPr>
          <p:nvPr/>
        </p:nvSpPr>
        <p:spPr>
          <a:xfrm xmlns:a="http://schemas.openxmlformats.org/drawingml/2006/main">
            <a:off x="4381500" y="2343150"/>
            <a:ext cx="114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67D5A"/>
                </a:solidFill>
                <a:latin typeface="Arial"/>
                <a:ea typeface="Arial"/>
                <a:cs typeface="Arial"/>
              </a:defRPr>
            </a:pPr>
            <a:r>
              <a:rPr sz="3300" b="1">
                <a:solidFill>
                  <a:srgbClr val="167D5A"/>
                </a:solidFill>
                <a:latin typeface="Arial"/>
                <a:ea typeface="Arial"/>
                <a:cs typeface="Arial"/>
              </a:rPr>
              <a:t>02</a:t>
            </a:r>
          </a:p>
        </p:txBody>
      </p:sp>
      <p:sp>
        <p:nvSpPr>
          <p:cNvPr id="7" name="Validate">
            <a:extLst xmlns:a="http://schemas.openxmlformats.org/drawingml/2006/main">
              <a:ext uri="{FF2B5EF4-FFF2-40B4-BE49-F238E27FC236}">
                <a16:creationId xmlns:a16="http://schemas.microsoft.com/office/drawing/2014/main" id="{53A59458-B34A-4861-BB0B-793AE98B0A6C}"/>
              </a:ext>
            </a:extLst>
          </p:cNvPr>
          <p:cNvSpPr>
            <a:spLocks xmlns:a="http://schemas.openxmlformats.org/drawingml/2006/main" noGrp="1"/>
          </p:cNvSpPr>
          <p:nvPr/>
        </p:nvSpPr>
        <p:spPr>
          <a:xfrm xmlns:a="http://schemas.openxmlformats.org/drawingml/2006/main">
            <a:off x="4381500" y="31051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172E29"/>
                </a:solidFill>
                <a:latin typeface="Arial"/>
                <a:ea typeface="Arial"/>
                <a:cs typeface="Arial"/>
              </a:defRPr>
            </a:pPr>
            <a:r>
              <a:rPr sz="2700" b="1">
                <a:solidFill>
                  <a:srgbClr val="172E29"/>
                </a:solidFill>
                <a:latin typeface="Arial"/>
                <a:ea typeface="Arial"/>
                <a:cs typeface="Arial"/>
              </a:rPr>
              <a:t>Validate</a:t>
            </a:r>
          </a:p>
        </p:txBody>
      </p:sp>
      <p:sp>
        <p:nvSpPr>
          <p:cNvPr id="8" name="03">
            <a:extLst xmlns:a="http://schemas.openxmlformats.org/drawingml/2006/main">
              <a:ext uri="{FF2B5EF4-FFF2-40B4-BE49-F238E27FC236}">
                <a16:creationId xmlns:a16="http://schemas.microsoft.com/office/drawing/2014/main" id="{3A2654BC-D75B-4DF8-8149-11A5B87109DF}"/>
              </a:ext>
            </a:extLst>
          </p:cNvPr>
          <p:cNvSpPr>
            <a:spLocks xmlns:a="http://schemas.openxmlformats.org/drawingml/2006/main" noGrp="1"/>
          </p:cNvSpPr>
          <p:nvPr/>
        </p:nvSpPr>
        <p:spPr>
          <a:xfrm xmlns:a="http://schemas.openxmlformats.org/drawingml/2006/main">
            <a:off x="8153400" y="2343150"/>
            <a:ext cx="114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67D5A"/>
                </a:solidFill>
                <a:latin typeface="Arial"/>
                <a:ea typeface="Arial"/>
                <a:cs typeface="Arial"/>
              </a:defRPr>
            </a:pPr>
            <a:r>
              <a:rPr sz="3300" b="1">
                <a:solidFill>
                  <a:srgbClr val="167D5A"/>
                </a:solidFill>
                <a:latin typeface="Arial"/>
                <a:ea typeface="Arial"/>
                <a:cs typeface="Arial"/>
              </a:rPr>
              <a:t>03</a:t>
            </a:r>
          </a:p>
        </p:txBody>
      </p:sp>
      <p:sp>
        <p:nvSpPr>
          <p:cNvPr id="9" name="Commit">
            <a:extLst xmlns:a="http://schemas.openxmlformats.org/drawingml/2006/main">
              <a:ext uri="{FF2B5EF4-FFF2-40B4-BE49-F238E27FC236}">
                <a16:creationId xmlns:a16="http://schemas.microsoft.com/office/drawing/2014/main" id="{015DCA91-FCF4-420E-919C-C5BBFDC26E19}"/>
              </a:ext>
            </a:extLst>
          </p:cNvPr>
          <p:cNvSpPr>
            <a:spLocks xmlns:a="http://schemas.openxmlformats.org/drawingml/2006/main" noGrp="1"/>
          </p:cNvSpPr>
          <p:nvPr/>
        </p:nvSpPr>
        <p:spPr>
          <a:xfrm xmlns:a="http://schemas.openxmlformats.org/drawingml/2006/main">
            <a:off x="8153400" y="31051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172E29"/>
                </a:solidFill>
                <a:latin typeface="Arial"/>
                <a:ea typeface="Arial"/>
                <a:cs typeface="Arial"/>
              </a:defRPr>
            </a:pPr>
            <a:r>
              <a:rPr sz="2700" b="1">
                <a:solidFill>
                  <a:srgbClr val="172E29"/>
                </a:solidFill>
                <a:latin typeface="Arial"/>
                <a:ea typeface="Arial"/>
                <a:cs typeface="Arial"/>
              </a:rPr>
              <a:t>Commit</a:t>
            </a:r>
          </a:p>
        </p:txBody>
      </p:sp>
      <p:sp>
        <p:nvSpPr>
          <p:cNvPr id="10" name="An agency reviews scope&#10;evidence and effort. The&#10;client">
            <a:extLst xmlns:a="http://schemas.openxmlformats.org/drawingml/2006/main">
              <a:ext uri="{FF2B5EF4-FFF2-40B4-BE49-F238E27FC236}">
                <a16:creationId xmlns:a16="http://schemas.microsoft.com/office/drawing/2014/main" id="{3072D18B-00C0-4E73-ABE0-07780424DD7E}"/>
              </a:ext>
            </a:extLst>
          </p:cNvPr>
          <p:cNvSpPr>
            <a:spLocks xmlns:a="http://schemas.openxmlformats.org/drawingml/2006/main" noGrp="1"/>
          </p:cNvSpPr>
          <p:nvPr/>
        </p:nvSpPr>
        <p:spPr>
          <a:xfrm xmlns:a="http://schemas.openxmlformats.org/drawingml/2006/main">
            <a:off x="609600" y="392430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An agency reviews scope</a:t>
            </a:r>
          </a:p>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evidence and effort. The</a:t>
            </a:r>
          </a:p>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client picks an option.</a:t>
            </a:r>
          </a:p>
        </p:txBody>
      </p:sp>
      <p:sp>
        <p:nvSpPr>
          <p:cNvPr id="11" name="The API checks tenant,&#10;price, capacity, expiry&#10;and base">
            <a:extLst xmlns:a="http://schemas.openxmlformats.org/drawingml/2006/main">
              <a:ext uri="{FF2B5EF4-FFF2-40B4-BE49-F238E27FC236}">
                <a16:creationId xmlns:a16="http://schemas.microsoft.com/office/drawing/2014/main" id="{D59B4E8F-6817-489B-8742-DF4ECA9D44CC}"/>
              </a:ext>
            </a:extLst>
          </p:cNvPr>
          <p:cNvSpPr>
            <a:spLocks xmlns:a="http://schemas.openxmlformats.org/drawingml/2006/main" noGrp="1"/>
          </p:cNvSpPr>
          <p:nvPr/>
        </p:nvSpPr>
        <p:spPr>
          <a:xfrm xmlns:a="http://schemas.openxmlformats.org/drawingml/2006/main">
            <a:off x="4381500" y="3924300"/>
            <a:ext cx="3286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The API checks tenant,</a:t>
            </a:r>
          </a:p>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price, capacity, expiry</a:t>
            </a:r>
          </a:p>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and baseline version.</a:t>
            </a:r>
          </a:p>
        </p:txBody>
      </p:sp>
      <p:sp>
        <p:nvSpPr>
          <p:cNvPr id="12" name="One transaction updates&#10;the baseline and records&#10;the au">
            <a:extLst xmlns:a="http://schemas.openxmlformats.org/drawingml/2006/main">
              <a:ext uri="{FF2B5EF4-FFF2-40B4-BE49-F238E27FC236}">
                <a16:creationId xmlns:a16="http://schemas.microsoft.com/office/drawing/2014/main" id="{86A16C52-D4EA-4FB1-9234-492071079A71}"/>
              </a:ext>
            </a:extLst>
          </p:cNvPr>
          <p:cNvSpPr>
            <a:spLocks xmlns:a="http://schemas.openxmlformats.org/drawingml/2006/main" noGrp="1"/>
          </p:cNvSpPr>
          <p:nvPr/>
        </p:nvSpPr>
        <p:spPr>
          <a:xfrm xmlns:a="http://schemas.openxmlformats.org/drawingml/2006/main">
            <a:off x="8153400" y="3924300"/>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One transaction updates</a:t>
            </a:r>
          </a:p>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the baseline and records</a:t>
            </a:r>
          </a:p>
          <a:p xmlns:a="http://schemas.openxmlformats.org/drawingml/2006/main">
            <a:pPr>
              <a:defRPr sz="2025" b="0">
                <a:solidFill>
                  <a:srgbClr val="5E716A"/>
                </a:solidFill>
                <a:latin typeface="Arial"/>
                <a:ea typeface="Arial"/>
                <a:cs typeface="Arial"/>
              </a:defRPr>
            </a:pPr>
            <a:r>
              <a:rPr sz="2025" b="0">
                <a:solidFill>
                  <a:srgbClr val="5E716A"/>
                </a:solidFill>
                <a:latin typeface="Arial"/>
                <a:ea typeface="Arial"/>
                <a:cs typeface="Arial"/>
              </a:rPr>
              <a:t>the audit event.</a:t>
            </a:r>
          </a:p>
        </p:txBody>
      </p:sp>
      <p:sp>
        <p:nvSpPr>
          <p:cNvPr id="13" name="">
            <a:extLst xmlns:a="http://schemas.openxmlformats.org/drawingml/2006/main">
              <a:ext uri="{FF2B5EF4-FFF2-40B4-BE49-F238E27FC236}">
                <a16:creationId xmlns:a16="http://schemas.microsoft.com/office/drawing/2014/main" id="{B41D2BA4-838E-48EB-9A7D-60B3CA8866E9}"/>
              </a:ext>
            </a:extLst>
          </p:cNvPr>
          <p:cNvSpPr>
            <a:spLocks xmlns:a="http://schemas.openxmlformats.org/drawingml/2006/main" noGrp="1"/>
          </p:cNvSpPr>
          <p:nvPr/>
        </p:nvSpPr>
        <p:spPr>
          <a:xfrm xmlns:a="http://schemas.openxmlformats.org/drawingml/2006/main">
            <a:off x="609600" y="5514975"/>
            <a:ext cx="10972800" cy="9525"/>
          </a:xfrm>
          <a:prstGeom xmlns:a="http://schemas.openxmlformats.org/drawingml/2006/main" prst="rect">
            <a:avLst/>
          </a:prstGeom>
          <a:solidFill xmlns:a="http://schemas.openxmlformats.org/drawingml/2006/main">
            <a:srgbClr val="D8DFD8"/>
          </a:solidFill>
          <a:ln xmlns:a="http://schemas.openxmlformats.org/drawingml/2006/main" w="0">
            <a:noFill/>
          </a:ln>
        </p:spPr>
      </p:sp>
      <p:sp>
        <p:nvSpPr>
          <p:cNvPr id="14" name="AI suggests. People decide. The server enforces the agr">
            <a:extLst xmlns:a="http://schemas.openxmlformats.org/drawingml/2006/main">
              <a:ext uri="{FF2B5EF4-FFF2-40B4-BE49-F238E27FC236}">
                <a16:creationId xmlns:a16="http://schemas.microsoft.com/office/drawing/2014/main" id="{C0DC1274-627F-467E-B486-5CC5CB302948}"/>
              </a:ext>
            </a:extLst>
          </p:cNvPr>
          <p:cNvSpPr>
            <a:spLocks xmlns:a="http://schemas.openxmlformats.org/drawingml/2006/main" noGrp="1"/>
          </p:cNvSpPr>
          <p:nvPr/>
        </p:nvSpPr>
        <p:spPr>
          <a:xfrm xmlns:a="http://schemas.openxmlformats.org/drawingml/2006/main">
            <a:off x="609600" y="5819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67D5A"/>
                </a:solidFill>
                <a:latin typeface="Arial"/>
                <a:ea typeface="Arial"/>
                <a:cs typeface="Arial"/>
              </a:defRPr>
            </a:pPr>
            <a:r>
              <a:rPr sz="2175" b="1">
                <a:solidFill>
                  <a:srgbClr val="167D5A"/>
                </a:solidFill>
                <a:latin typeface="Arial"/>
                <a:ea typeface="Arial"/>
                <a:cs typeface="Arial"/>
              </a:rPr>
              <a:t>AI suggests. People decide. The server enforces the agreement.</a:t>
            </a:r>
          </a:p>
        </p:txBody>
      </p:sp>
    </p:spTree>
    <p:extLst>
      <p:ext uri="{BB962C8B-B14F-4D97-AF65-F5344CB8AC3E}">
        <p14:creationId xmlns:p14="http://schemas.microsoft.com/office/powerpoint/2010/main" val="66958705"/>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PACTSHIFT">
            <a:extLst xmlns:a="http://schemas.openxmlformats.org/drawingml/2006/main">
              <a:ext uri="{FF2B5EF4-FFF2-40B4-BE49-F238E27FC236}">
                <a16:creationId xmlns:a16="http://schemas.microsoft.com/office/drawing/2014/main" id="{59ADCCCE-DFA4-4E88-88BA-0BBCC1A0A9C2}"/>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167D5A"/>
                </a:solidFill>
                <a:latin typeface="Arial"/>
                <a:ea typeface="Arial"/>
                <a:cs typeface="Arial"/>
              </a:defRPr>
            </a:pPr>
            <a:r>
              <a:rPr sz="1350" b="1">
                <a:solidFill>
                  <a:srgbClr val="167D5A"/>
                </a:solidFill>
                <a:latin typeface="Arial"/>
                <a:ea typeface="Arial"/>
                <a:cs typeface="Arial"/>
              </a:rPr>
              <a:t>PACTSHIFT</a:t>
            </a:r>
          </a:p>
        </p:txBody>
      </p:sp>
      <p:sp>
        <p:nvSpPr>
          <p:cNvPr id="2" name="06">
            <a:extLst xmlns:a="http://schemas.openxmlformats.org/drawingml/2006/main">
              <a:ext uri="{FF2B5EF4-FFF2-40B4-BE49-F238E27FC236}">
                <a16:creationId xmlns:a16="http://schemas.microsoft.com/office/drawing/2014/main" id="{8B10645F-18F8-4D0B-BC66-77D40BF4EC8F}"/>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E716A"/>
                </a:solidFill>
                <a:latin typeface="Arial"/>
                <a:ea typeface="Arial"/>
                <a:cs typeface="Arial"/>
              </a:defRPr>
            </a:pPr>
            <a:r>
              <a:rPr sz="1350" b="0">
                <a:solidFill>
                  <a:srgbClr val="5E716A"/>
                </a:solidFill>
                <a:latin typeface="Arial"/>
                <a:ea typeface="Arial"/>
                <a:cs typeface="Arial"/>
              </a:rPr>
              <a:t>06</a:t>
            </a:r>
          </a:p>
        </p:txBody>
      </p:sp>
      <p:sp>
        <p:nvSpPr>
          <p:cNvPr id="3" name="A flat subscription for each workspace">
            <a:extLst xmlns:a="http://schemas.openxmlformats.org/drawingml/2006/main">
              <a:ext uri="{FF2B5EF4-FFF2-40B4-BE49-F238E27FC236}">
                <a16:creationId xmlns:a16="http://schemas.microsoft.com/office/drawing/2014/main" id="{4F25EEEB-C4D7-4778-AF18-BC9E989CF127}"/>
              </a:ext>
            </a:extLst>
          </p:cNvPr>
          <p:cNvSpPr>
            <a:spLocks xmlns:a="http://schemas.openxmlformats.org/drawingml/2006/main" noGrp="1"/>
          </p:cNvSpPr>
          <p:nvPr/>
        </p:nvSpPr>
        <p:spPr>
          <a:xfrm xmlns:a="http://schemas.openxmlformats.org/drawingml/2006/main">
            <a:off x="609600" y="9525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72E29"/>
                </a:solidFill>
                <a:latin typeface="Arial"/>
                <a:ea typeface="Arial"/>
                <a:cs typeface="Arial"/>
              </a:defRPr>
            </a:pPr>
            <a:r>
              <a:rPr sz="3900" b="1">
                <a:solidFill>
                  <a:srgbClr val="172E29"/>
                </a:solidFill>
                <a:latin typeface="Arial"/>
                <a:ea typeface="Arial"/>
                <a:cs typeface="Arial"/>
              </a:rPr>
              <a:t>A flat subscription for each workspace</a:t>
            </a:r>
          </a:p>
        </p:txBody>
      </p:sp>
      <p:graphicFrame>
        <p:nvGraphicFramePr>
          <p:cNvPr id="10" name=""/>
          <p:cNvGraphicFramePr/>
          <p:nvPr/>
        </p:nvGraphicFramePr>
        <p:xfrm>
          <a:off xmlns:a="http://schemas.openxmlformats.org/drawingml/2006/main" x="609600" y="2390775"/>
          <a:ext xmlns:a="http://schemas.openxmlformats.org/drawingml/2006/main" cx="10972800" cy="2590800"/>
        </p:xfrm>
        <a:graphic xmlns:a="http://schemas.openxmlformats.org/drawingml/2006/main">
          <a:graphicData uri="http://schemas.openxmlformats.org/drawingml/2006/table">
            <a:tbl>
              <a:tblPr/>
              <a:tblGrid>
                <a:gridCol w="2905125"/>
                <a:gridCol w="2762250"/>
                <a:gridCol w="2428875"/>
                <a:gridCol w="2876550"/>
              </a:tblGrid>
              <a:tr h="647700">
                <a:tc>
                  <a:txBody>
                    <a:bodyPr/>
                    <a:lstStyle/>
                    <a:p>
                      <a:r>
                        <a:rPr sz="1575" b="1">
                          <a:solidFill>
                            <a:srgbClr val="FFFFFF"/>
                          </a:solidFill>
                          <a:latin typeface="Arial"/>
                          <a:ea typeface="Arial"/>
                          <a:cs typeface="Arial"/>
                        </a:rPr>
                        <a:t>Plan</a:t>
                      </a:r>
                    </a:p>
                  </a:txBody>
                  <a:tcPr marL="171450" marR="171450" marT="142875" marB="142875">
                    <a:solidFill>
                      <a:srgbClr val="172E29"/>
                    </a:solidFill>
                  </a:tcPr>
                </a:tc>
                <a:tc>
                  <a:txBody>
                    <a:bodyPr/>
                    <a:lstStyle/>
                    <a:p>
                      <a:r>
                        <a:rPr sz="1575" b="1">
                          <a:solidFill>
                            <a:srgbClr val="FFFFFF"/>
                          </a:solidFill>
                          <a:latin typeface="Arial"/>
                          <a:ea typeface="Arial"/>
                          <a:cs typeface="Arial"/>
                        </a:rPr>
                        <a:t>Monthly price</a:t>
                      </a:r>
                    </a:p>
                  </a:txBody>
                  <a:tcPr marL="171450" marR="171450" marT="142875" marB="142875">
                    <a:solidFill>
                      <a:srgbClr val="172E29"/>
                    </a:solidFill>
                  </a:tcPr>
                </a:tc>
                <a:tc>
                  <a:txBody>
                    <a:bodyPr/>
                    <a:lstStyle/>
                    <a:p>
                      <a:r>
                        <a:rPr sz="1575" b="1">
                          <a:solidFill>
                            <a:srgbClr val="FFFFFF"/>
                          </a:solidFill>
                          <a:latin typeface="Arial"/>
                          <a:ea typeface="Arial"/>
                          <a:cs typeface="Arial"/>
                        </a:rPr>
                        <a:t>Stored projects</a:t>
                      </a:r>
                    </a:p>
                  </a:txBody>
                  <a:tcPr marL="171450" marR="171450" marT="142875" marB="142875">
                    <a:solidFill>
                      <a:srgbClr val="172E29"/>
                    </a:solidFill>
                  </a:tcPr>
                </a:tc>
                <a:tc>
                  <a:txBody>
                    <a:bodyPr/>
                    <a:lstStyle/>
                    <a:p>
                      <a:r>
                        <a:rPr sz="1575" b="1">
                          <a:solidFill>
                            <a:srgbClr val="FFFFFF"/>
                          </a:solidFill>
                          <a:latin typeface="Arial"/>
                          <a:ea typeface="Arial"/>
                          <a:cs typeface="Arial"/>
                        </a:rPr>
                        <a:t>Analyses / month</a:t>
                      </a:r>
                    </a:p>
                  </a:txBody>
                  <a:tcPr marL="171450" marR="171450" marT="142875" marB="142875">
                    <a:solidFill>
                      <a:srgbClr val="172E29"/>
                    </a:solidFill>
                  </a:tcPr>
                </a:tc>
              </a:tr>
              <a:tr h="647700">
                <a:tc>
                  <a:txBody>
                    <a:bodyPr/>
                    <a:lstStyle/>
                    <a:p>
                      <a:r>
                        <a:rPr sz="1800">
                          <a:solidFill>
                            <a:srgbClr val="172E29"/>
                          </a:solidFill>
                          <a:latin typeface="Arial"/>
                          <a:ea typeface="Arial"/>
                          <a:cs typeface="Arial"/>
                        </a:rPr>
                        <a:t>Free</a:t>
                      </a:r>
                    </a:p>
                  </a:txBody>
                  <a:tcPr marL="171450" marR="171450" marT="142875" marB="142875">
                    <a:solidFill>
                      <a:srgbClr val="F7F8F5"/>
                    </a:solidFill>
                  </a:tcPr>
                </a:tc>
                <a:tc>
                  <a:txBody>
                    <a:bodyPr/>
                    <a:lstStyle/>
                    <a:p>
                      <a:r>
                        <a:rPr sz="1800">
                          <a:solidFill>
                            <a:srgbClr val="172E29"/>
                          </a:solidFill>
                          <a:latin typeface="Arial"/>
                          <a:ea typeface="Arial"/>
                          <a:cs typeface="Arial"/>
                        </a:rPr>
                        <a:t>$0</a:t>
                      </a:r>
                    </a:p>
                  </a:txBody>
                  <a:tcPr marL="171450" marR="171450" marT="142875" marB="142875">
                    <a:solidFill>
                      <a:srgbClr val="F7F8F5"/>
                    </a:solidFill>
                  </a:tcPr>
                </a:tc>
                <a:tc>
                  <a:txBody>
                    <a:bodyPr/>
                    <a:lstStyle/>
                    <a:p>
                      <a:r>
                        <a:rPr sz="1800">
                          <a:solidFill>
                            <a:srgbClr val="172E29"/>
                          </a:solidFill>
                          <a:latin typeface="Arial"/>
                          <a:ea typeface="Arial"/>
                          <a:cs typeface="Arial"/>
                        </a:rPr>
                        <a:t>3</a:t>
                      </a:r>
                    </a:p>
                  </a:txBody>
                  <a:tcPr marL="171450" marR="171450" marT="142875" marB="142875">
                    <a:solidFill>
                      <a:srgbClr val="F7F8F5"/>
                    </a:solidFill>
                  </a:tcPr>
                </a:tc>
                <a:tc>
                  <a:txBody>
                    <a:bodyPr/>
                    <a:lstStyle/>
                    <a:p>
                      <a:r>
                        <a:rPr sz="1800">
                          <a:solidFill>
                            <a:srgbClr val="172E29"/>
                          </a:solidFill>
                          <a:latin typeface="Arial"/>
                          <a:ea typeface="Arial"/>
                          <a:cs typeface="Arial"/>
                        </a:rPr>
                        <a:t>30</a:t>
                      </a:r>
                    </a:p>
                  </a:txBody>
                  <a:tcPr marL="171450" marR="171450" marT="142875" marB="142875">
                    <a:solidFill>
                      <a:srgbClr val="F7F8F5"/>
                    </a:solidFill>
                  </a:tcPr>
                </a:tc>
              </a:tr>
              <a:tr h="647700">
                <a:tc>
                  <a:txBody>
                    <a:bodyPr/>
                    <a:lstStyle/>
                    <a:p>
                      <a:r>
                        <a:rPr sz="1800">
                          <a:solidFill>
                            <a:srgbClr val="172E29"/>
                          </a:solidFill>
                          <a:latin typeface="Arial"/>
                          <a:ea typeface="Arial"/>
                          <a:cs typeface="Arial"/>
                        </a:rPr>
                        <a:t>Studio</a:t>
                      </a:r>
                    </a:p>
                  </a:txBody>
                  <a:tcPr marL="171450" marR="171450" marT="142875" marB="142875">
                    <a:solidFill>
                      <a:srgbClr val="F7F8F5"/>
                    </a:solidFill>
                  </a:tcPr>
                </a:tc>
                <a:tc>
                  <a:txBody>
                    <a:bodyPr/>
                    <a:lstStyle/>
                    <a:p>
                      <a:r>
                        <a:rPr sz="1800">
                          <a:solidFill>
                            <a:srgbClr val="172E29"/>
                          </a:solidFill>
                          <a:latin typeface="Arial"/>
                          <a:ea typeface="Arial"/>
                          <a:cs typeface="Arial"/>
                        </a:rPr>
                        <a:t>$29</a:t>
                      </a:r>
                    </a:p>
                  </a:txBody>
                  <a:tcPr marL="171450" marR="171450" marT="142875" marB="142875">
                    <a:solidFill>
                      <a:srgbClr val="F7F8F5"/>
                    </a:solidFill>
                  </a:tcPr>
                </a:tc>
                <a:tc>
                  <a:txBody>
                    <a:bodyPr/>
                    <a:lstStyle/>
                    <a:p>
                      <a:r>
                        <a:rPr sz="1800">
                          <a:solidFill>
                            <a:srgbClr val="172E29"/>
                          </a:solidFill>
                          <a:latin typeface="Arial"/>
                          <a:ea typeface="Arial"/>
                          <a:cs typeface="Arial"/>
                        </a:rPr>
                        <a:t>15</a:t>
                      </a:r>
                    </a:p>
                  </a:txBody>
                  <a:tcPr marL="171450" marR="171450" marT="142875" marB="142875">
                    <a:solidFill>
                      <a:srgbClr val="F7F8F5"/>
                    </a:solidFill>
                  </a:tcPr>
                </a:tc>
                <a:tc>
                  <a:txBody>
                    <a:bodyPr/>
                    <a:lstStyle/>
                    <a:p>
                      <a:r>
                        <a:rPr sz="1800">
                          <a:solidFill>
                            <a:srgbClr val="172E29"/>
                          </a:solidFill>
                          <a:latin typeface="Arial"/>
                          <a:ea typeface="Arial"/>
                          <a:cs typeface="Arial"/>
                        </a:rPr>
                        <a:t>300</a:t>
                      </a:r>
                    </a:p>
                  </a:txBody>
                  <a:tcPr marL="171450" marR="171450" marT="142875" marB="142875">
                    <a:solidFill>
                      <a:srgbClr val="F7F8F5"/>
                    </a:solidFill>
                  </a:tcPr>
                </a:tc>
              </a:tr>
              <a:tr h="647700">
                <a:tc>
                  <a:txBody>
                    <a:bodyPr/>
                    <a:lstStyle/>
                    <a:p>
                      <a:r>
                        <a:rPr sz="1800">
                          <a:solidFill>
                            <a:srgbClr val="172E29"/>
                          </a:solidFill>
                          <a:latin typeface="Arial"/>
                          <a:ea typeface="Arial"/>
                          <a:cs typeface="Arial"/>
                        </a:rPr>
                        <a:t>Agency</a:t>
                      </a:r>
                    </a:p>
                  </a:txBody>
                  <a:tcPr marL="171450" marR="171450" marT="142875" marB="142875">
                    <a:solidFill>
                      <a:srgbClr val="F7F8F5"/>
                    </a:solidFill>
                  </a:tcPr>
                </a:tc>
                <a:tc>
                  <a:txBody>
                    <a:bodyPr/>
                    <a:lstStyle/>
                    <a:p>
                      <a:r>
                        <a:rPr sz="1800">
                          <a:solidFill>
                            <a:srgbClr val="172E29"/>
                          </a:solidFill>
                          <a:latin typeface="Arial"/>
                          <a:ea typeface="Arial"/>
                          <a:cs typeface="Arial"/>
                        </a:rPr>
                        <a:t>$79</a:t>
                      </a:r>
                    </a:p>
                  </a:txBody>
                  <a:tcPr marL="171450" marR="171450" marT="142875" marB="142875">
                    <a:solidFill>
                      <a:srgbClr val="F7F8F5"/>
                    </a:solidFill>
                  </a:tcPr>
                </a:tc>
                <a:tc>
                  <a:txBody>
                    <a:bodyPr/>
                    <a:lstStyle/>
                    <a:p>
                      <a:r>
                        <a:rPr sz="1800">
                          <a:solidFill>
                            <a:srgbClr val="172E29"/>
                          </a:solidFill>
                          <a:latin typeface="Arial"/>
                          <a:ea typeface="Arial"/>
                          <a:cs typeface="Arial"/>
                        </a:rPr>
                        <a:t>60</a:t>
                      </a:r>
                    </a:p>
                  </a:txBody>
                  <a:tcPr marL="171450" marR="171450" marT="142875" marB="142875">
                    <a:solidFill>
                      <a:srgbClr val="F7F8F5"/>
                    </a:solidFill>
                  </a:tcPr>
                </a:tc>
                <a:tc>
                  <a:txBody>
                    <a:bodyPr/>
                    <a:lstStyle/>
                    <a:p>
                      <a:r>
                        <a:rPr sz="1800">
                          <a:solidFill>
                            <a:srgbClr val="172E29"/>
                          </a:solidFill>
                          <a:latin typeface="Arial"/>
                          <a:ea typeface="Arial"/>
                          <a:cs typeface="Arial"/>
                        </a:rPr>
                        <a:t>1,500</a:t>
                      </a:r>
                    </a:p>
                  </a:txBody>
                  <a:tcPr marL="171450" marR="171450" marT="142875" marB="142875">
                    <a:solidFill>
                      <a:srgbClr val="F7F8F5"/>
                    </a:solidFill>
                  </a:tcPr>
                </a:tc>
              </a:tr>
            </a:tbl>
          </a:graphicData>
        </a:graphic>
      </p:graphicFrame>
      <p:sp>
        <p:nvSpPr>
          <p:cNvPr id="5" name="No percentage fee on the changes a client accepts.">
            <a:extLst xmlns:a="http://schemas.openxmlformats.org/drawingml/2006/main">
              <a:ext uri="{FF2B5EF4-FFF2-40B4-BE49-F238E27FC236}">
                <a16:creationId xmlns:a16="http://schemas.microsoft.com/office/drawing/2014/main" id="{E3C7F4A5-6330-41C5-BF8E-FD9E220483C4}"/>
              </a:ext>
            </a:extLst>
          </p:cNvPr>
          <p:cNvSpPr>
            <a:spLocks xmlns:a="http://schemas.openxmlformats.org/drawingml/2006/main" noGrp="1"/>
          </p:cNvSpPr>
          <p:nvPr/>
        </p:nvSpPr>
        <p:spPr>
          <a:xfrm xmlns:a="http://schemas.openxmlformats.org/drawingml/2006/main">
            <a:off x="609600" y="54006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67D5A"/>
                </a:solidFill>
                <a:latin typeface="Arial"/>
                <a:ea typeface="Arial"/>
                <a:cs typeface="Arial"/>
              </a:defRPr>
            </a:pPr>
            <a:r>
              <a:rPr sz="2400" b="1">
                <a:solidFill>
                  <a:srgbClr val="167D5A"/>
                </a:solidFill>
                <a:latin typeface="Arial"/>
                <a:ea typeface="Arial"/>
                <a:cs typeface="Arial"/>
              </a:rPr>
              <a:t>No percentage fee on the changes a client accepts.</a:t>
            </a:r>
          </a:p>
        </p:txBody>
      </p:sp>
      <p:sp>
        <p:nvSpPr>
          <p:cNvPr id="6" name="Proposed pricing. Archived projects count toward the li">
            <a:extLst xmlns:a="http://schemas.openxmlformats.org/drawingml/2006/main">
              <a:ext uri="{FF2B5EF4-FFF2-40B4-BE49-F238E27FC236}">
                <a16:creationId xmlns:a16="http://schemas.microsoft.com/office/drawing/2014/main" id="{DC532545-BAB0-427B-8C7E-CCCF50DE5E08}"/>
              </a:ext>
            </a:extLst>
          </p:cNvPr>
          <p:cNvSpPr>
            <a:spLocks xmlns:a="http://schemas.openxmlformats.org/drawingml/2006/main" noGrp="1"/>
          </p:cNvSpPr>
          <p:nvPr/>
        </p:nvSpPr>
        <p:spPr>
          <a:xfrm xmlns:a="http://schemas.openxmlformats.org/drawingml/2006/main">
            <a:off x="609600" y="60960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E716A"/>
                </a:solidFill>
                <a:latin typeface="Arial"/>
                <a:ea typeface="Arial"/>
                <a:cs typeface="Arial"/>
              </a:defRPr>
            </a:pPr>
            <a:r>
              <a:rPr sz="1575" b="0">
                <a:solidFill>
                  <a:srgbClr val="5E716A"/>
                </a:solidFill>
                <a:latin typeface="Arial"/>
                <a:ea typeface="Arial"/>
                <a:cs typeface="Arial"/>
              </a:rPr>
              <a:t>Proposed pricing. Archived projects count toward the limit. Client approvals are included.</a:t>
            </a:r>
          </a:p>
        </p:txBody>
      </p:sp>
    </p:spTree>
    <p:extLst>
      <p:ext uri="{BB962C8B-B14F-4D97-AF65-F5344CB8AC3E}">
        <p14:creationId xmlns:p14="http://schemas.microsoft.com/office/powerpoint/2010/main" val="19844975"/>
      </p:ext>
    </p:extLst>
  </p:cSld>
</p:sld>
</file>

<file path=ppt/slides/slide7.xml><?xml version="1.0" encoding="utf-8"?>
<p:sld xmlns:p="http://schemas.openxmlformats.org/presentationml/2006/main">
  <p:cSld>
    <p:bg>
      <p:bgPr>
        <a:solidFill xmlns:a="http://schemas.openxmlformats.org/drawingml/2006/main">
          <a:srgbClr val="172E29"/>
        </a:solidFill>
      </p:bgPr>
    </p:bg>
    <p:spTree>
      <p:nvGrpSpPr>
        <p:cNvPr id="1" name=""/>
        <p:cNvGrpSpPr/>
        <p:nvPr/>
      </p:nvGrpSpPr>
      <p:grpSpPr>
        <a:xfrm xmlns:a="http://schemas.openxmlformats.org/drawingml/2006/main"/>
      </p:grpSpPr>
      <p:sp>
        <p:nvSpPr>
          <p:cNvPr id="10" name="PACTSHIFT">
            <a:extLst xmlns:a="http://schemas.openxmlformats.org/drawingml/2006/main">
              <a:ext uri="{FF2B5EF4-FFF2-40B4-BE49-F238E27FC236}">
                <a16:creationId xmlns:a16="http://schemas.microsoft.com/office/drawing/2014/main" id="{DEAB32BA-98CB-402D-B7F7-856DB6962364}"/>
              </a:ext>
            </a:extLst>
          </p:cNvPr>
          <p:cNvSpPr>
            <a:spLocks xmlns:a="http://schemas.openxmlformats.org/drawingml/2006/main" noGrp="1"/>
          </p:cNvSpPr>
          <p:nvPr/>
        </p:nvSpPr>
        <p:spPr>
          <a:xfrm xmlns:a="http://schemas.openxmlformats.org/drawingml/2006/main">
            <a:off x="609600" y="3048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DFF2AE"/>
                </a:solidFill>
                <a:latin typeface="Arial"/>
                <a:ea typeface="Arial"/>
                <a:cs typeface="Arial"/>
              </a:defRPr>
            </a:pPr>
            <a:r>
              <a:rPr sz="1350" b="1">
                <a:solidFill>
                  <a:srgbClr val="DFF2AE"/>
                </a:solidFill>
                <a:latin typeface="Arial"/>
                <a:ea typeface="Arial"/>
                <a:cs typeface="Arial"/>
              </a:rPr>
              <a:t>PACTSHIFT</a:t>
            </a:r>
          </a:p>
        </p:txBody>
      </p:sp>
      <p:sp>
        <p:nvSpPr>
          <p:cNvPr id="2" name="07">
            <a:extLst xmlns:a="http://schemas.openxmlformats.org/drawingml/2006/main">
              <a:ext uri="{FF2B5EF4-FFF2-40B4-BE49-F238E27FC236}">
                <a16:creationId xmlns:a16="http://schemas.microsoft.com/office/drawing/2014/main" id="{8A5C4F12-6571-4E13-8ABC-3A16163231F2}"/>
              </a:ext>
            </a:extLst>
          </p:cNvPr>
          <p:cNvSpPr>
            <a:spLocks xmlns:a="http://schemas.openxmlformats.org/drawingml/2006/main" noGrp="1"/>
          </p:cNvSpPr>
          <p:nvPr/>
        </p:nvSpPr>
        <p:spPr>
          <a:xfrm xmlns:a="http://schemas.openxmlformats.org/drawingml/2006/main">
            <a:off x="11049000" y="3048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DFF2AE"/>
                </a:solidFill>
                <a:latin typeface="Arial"/>
                <a:ea typeface="Arial"/>
                <a:cs typeface="Arial"/>
              </a:defRPr>
            </a:pPr>
            <a:r>
              <a:rPr sz="1350" b="0">
                <a:solidFill>
                  <a:srgbClr val="DFF2AE"/>
                </a:solidFill>
                <a:latin typeface="Arial"/>
                <a:ea typeface="Arial"/>
                <a:cs typeface="Arial"/>
              </a:rPr>
              <a:t>07</a:t>
            </a:r>
          </a:p>
        </p:txBody>
      </p:sp>
      <p:sp>
        <p:nvSpPr>
          <p:cNvPr id="3" name="Built for the next&#10;fixed-fee change">
            <a:extLst xmlns:a="http://schemas.openxmlformats.org/drawingml/2006/main">
              <a:ext uri="{FF2B5EF4-FFF2-40B4-BE49-F238E27FC236}">
                <a16:creationId xmlns:a16="http://schemas.microsoft.com/office/drawing/2014/main" id="{1E3B48C8-0627-44EE-864B-09070CA556D0}"/>
              </a:ext>
            </a:extLst>
          </p:cNvPr>
          <p:cNvSpPr>
            <a:spLocks xmlns:a="http://schemas.openxmlformats.org/drawingml/2006/main" noGrp="1"/>
          </p:cNvSpPr>
          <p:nvPr/>
        </p:nvSpPr>
        <p:spPr>
          <a:xfrm xmlns:a="http://schemas.openxmlformats.org/drawingml/2006/main">
            <a:off x="609600" y="1304925"/>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75" b="1">
                <a:solidFill>
                  <a:srgbClr val="F7F8F5"/>
                </a:solidFill>
                <a:latin typeface="Arial"/>
                <a:ea typeface="Arial"/>
                <a:cs typeface="Arial"/>
              </a:defRPr>
            </a:pPr>
            <a:r>
              <a:rPr sz="4875" b="1">
                <a:solidFill>
                  <a:srgbClr val="F7F8F5"/>
                </a:solidFill>
                <a:latin typeface="Arial"/>
                <a:ea typeface="Arial"/>
                <a:cs typeface="Arial"/>
              </a:rPr>
              <a:t>Built for the next</a:t>
            </a:r>
          </a:p>
          <a:p xmlns:a="http://schemas.openxmlformats.org/drawingml/2006/main">
            <a:pPr>
              <a:defRPr sz="4875" b="1">
                <a:solidFill>
                  <a:srgbClr val="F7F8F5"/>
                </a:solidFill>
                <a:latin typeface="Arial"/>
                <a:ea typeface="Arial"/>
                <a:cs typeface="Arial"/>
              </a:defRPr>
            </a:pPr>
            <a:r>
              <a:rPr sz="4875" b="1">
                <a:solidFill>
                  <a:srgbClr val="F7F8F5"/>
                </a:solidFill>
                <a:latin typeface="Arial"/>
                <a:ea typeface="Arial"/>
                <a:cs typeface="Arial"/>
              </a:rPr>
              <a:t>fixed-fee change</a:t>
            </a:r>
          </a:p>
        </p:txBody>
      </p:sp>
      <p:sp>
        <p:nvSpPr>
          <p:cNvPr id="4" name="Initial buyer">
            <a:extLst xmlns:a="http://schemas.openxmlformats.org/drawingml/2006/main">
              <a:ext uri="{FF2B5EF4-FFF2-40B4-BE49-F238E27FC236}">
                <a16:creationId xmlns:a16="http://schemas.microsoft.com/office/drawing/2014/main" id="{313A2CA7-86BF-445C-9ACD-7F74D115E5FA}"/>
              </a:ext>
            </a:extLst>
          </p:cNvPr>
          <p:cNvSpPr>
            <a:spLocks xmlns:a="http://schemas.openxmlformats.org/drawingml/2006/main" noGrp="1"/>
          </p:cNvSpPr>
          <p:nvPr/>
        </p:nvSpPr>
        <p:spPr>
          <a:xfrm xmlns:a="http://schemas.openxmlformats.org/drawingml/2006/main">
            <a:off x="609600" y="34766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DFF2AE"/>
                </a:solidFill>
                <a:latin typeface="Arial"/>
                <a:ea typeface="Arial"/>
                <a:cs typeface="Arial"/>
              </a:defRPr>
            </a:pPr>
            <a:r>
              <a:rPr sz="1950" b="1">
                <a:solidFill>
                  <a:srgbClr val="DFF2AE"/>
                </a:solidFill>
                <a:latin typeface="Arial"/>
                <a:ea typeface="Arial"/>
                <a:cs typeface="Arial"/>
              </a:rPr>
              <a:t>Initial buyer</a:t>
            </a:r>
          </a:p>
        </p:txBody>
      </p:sp>
      <p:sp>
        <p:nvSpPr>
          <p:cNvPr id="5" name="Small web and design agencies&#10;with repeated scope negot">
            <a:extLst xmlns:a="http://schemas.openxmlformats.org/drawingml/2006/main">
              <a:ext uri="{FF2B5EF4-FFF2-40B4-BE49-F238E27FC236}">
                <a16:creationId xmlns:a16="http://schemas.microsoft.com/office/drawing/2014/main" id="{791D6380-7DCE-47A8-9C4D-1B99C70B65F4}"/>
              </a:ext>
            </a:extLst>
          </p:cNvPr>
          <p:cNvSpPr>
            <a:spLocks xmlns:a="http://schemas.openxmlformats.org/drawingml/2006/main" noGrp="1"/>
          </p:cNvSpPr>
          <p:nvPr/>
        </p:nvSpPr>
        <p:spPr>
          <a:xfrm xmlns:a="http://schemas.openxmlformats.org/drawingml/2006/main">
            <a:off x="609600" y="4086225"/>
            <a:ext cx="514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F7F8F5"/>
                </a:solidFill>
                <a:latin typeface="Arial"/>
                <a:ea typeface="Arial"/>
                <a:cs typeface="Arial"/>
              </a:defRPr>
            </a:pPr>
            <a:r>
              <a:rPr sz="2325" b="0">
                <a:solidFill>
                  <a:srgbClr val="F7F8F5"/>
                </a:solidFill>
                <a:latin typeface="Arial"/>
                <a:ea typeface="Arial"/>
                <a:cs typeface="Arial"/>
              </a:rPr>
              <a:t>Small web and design agencies</a:t>
            </a:r>
          </a:p>
          <a:p xmlns:a="http://schemas.openxmlformats.org/drawingml/2006/main">
            <a:pPr>
              <a:defRPr sz="2325" b="0">
                <a:solidFill>
                  <a:srgbClr val="F7F8F5"/>
                </a:solidFill>
                <a:latin typeface="Arial"/>
                <a:ea typeface="Arial"/>
                <a:cs typeface="Arial"/>
              </a:defRPr>
            </a:pPr>
            <a:r>
              <a:rPr sz="2325" b="0">
                <a:solidFill>
                  <a:srgbClr val="F7F8F5"/>
                </a:solidFill>
                <a:latin typeface="Arial"/>
                <a:ea typeface="Arial"/>
                <a:cs typeface="Arial"/>
              </a:rPr>
              <a:t>with repeated scope negotiations.</a:t>
            </a:r>
          </a:p>
        </p:txBody>
      </p:sp>
      <p:sp>
        <p:nvSpPr>
          <p:cNvPr id="6" name="Validation plan">
            <a:extLst xmlns:a="http://schemas.openxmlformats.org/drawingml/2006/main">
              <a:ext uri="{FF2B5EF4-FFF2-40B4-BE49-F238E27FC236}">
                <a16:creationId xmlns:a16="http://schemas.microsoft.com/office/drawing/2014/main" id="{644869C3-EFEE-4FA7-BBF7-1747519BDC73}"/>
              </a:ext>
            </a:extLst>
          </p:cNvPr>
          <p:cNvSpPr>
            <a:spLocks xmlns:a="http://schemas.openxmlformats.org/drawingml/2006/main" noGrp="1"/>
          </p:cNvSpPr>
          <p:nvPr/>
        </p:nvSpPr>
        <p:spPr>
          <a:xfrm xmlns:a="http://schemas.openxmlformats.org/drawingml/2006/main">
            <a:off x="6810375" y="34766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DFF2AE"/>
                </a:solidFill>
                <a:latin typeface="Arial"/>
                <a:ea typeface="Arial"/>
                <a:cs typeface="Arial"/>
              </a:defRPr>
            </a:pPr>
            <a:r>
              <a:rPr sz="1950" b="1">
                <a:solidFill>
                  <a:srgbClr val="DFF2AE"/>
                </a:solidFill>
                <a:latin typeface="Arial"/>
                <a:ea typeface="Arial"/>
                <a:cs typeface="Arial"/>
              </a:rPr>
              <a:t>Validation plan</a:t>
            </a:r>
          </a:p>
        </p:txBody>
      </p:sp>
      <p:sp>
        <p:nvSpPr>
          <p:cNvPr id="7" name="Five design partners using real&#10;requests. Measure paid ">
            <a:extLst xmlns:a="http://schemas.openxmlformats.org/drawingml/2006/main">
              <a:ext uri="{FF2B5EF4-FFF2-40B4-BE49-F238E27FC236}">
                <a16:creationId xmlns:a16="http://schemas.microsoft.com/office/drawing/2014/main" id="{55073570-44AB-4AEF-A754-CA0E1451B271}"/>
              </a:ext>
            </a:extLst>
          </p:cNvPr>
          <p:cNvSpPr>
            <a:spLocks xmlns:a="http://schemas.openxmlformats.org/drawingml/2006/main" noGrp="1"/>
          </p:cNvSpPr>
          <p:nvPr/>
        </p:nvSpPr>
        <p:spPr>
          <a:xfrm xmlns:a="http://schemas.openxmlformats.org/drawingml/2006/main">
            <a:off x="6810375" y="4086225"/>
            <a:ext cx="4476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7F8F5"/>
                </a:solidFill>
                <a:latin typeface="Arial"/>
                <a:ea typeface="Arial"/>
                <a:cs typeface="Arial"/>
              </a:defRPr>
            </a:pPr>
            <a:r>
              <a:rPr sz="2100" b="0">
                <a:solidFill>
                  <a:srgbClr val="F7F8F5"/>
                </a:solidFill>
                <a:latin typeface="Arial"/>
                <a:ea typeface="Arial"/>
                <a:cs typeface="Arial"/>
              </a:rPr>
              <a:t>Five design partners using real</a:t>
            </a:r>
          </a:p>
          <a:p xmlns:a="http://schemas.openxmlformats.org/drawingml/2006/main">
            <a:pPr>
              <a:defRPr sz="2100" b="0">
                <a:solidFill>
                  <a:srgbClr val="F7F8F5"/>
                </a:solidFill>
                <a:latin typeface="Arial"/>
                <a:ea typeface="Arial"/>
                <a:cs typeface="Arial"/>
              </a:defRPr>
            </a:pPr>
            <a:r>
              <a:rPr sz="2100" b="0">
                <a:solidFill>
                  <a:srgbClr val="F7F8F5"/>
                </a:solidFill>
                <a:latin typeface="Arial"/>
                <a:ea typeface="Arial"/>
                <a:cs typeface="Arial"/>
              </a:rPr>
              <a:t>requests. Measure paid renewals</a:t>
            </a:r>
          </a:p>
          <a:p xmlns:a="http://schemas.openxmlformats.org/drawingml/2006/main">
            <a:pPr>
              <a:defRPr sz="2100" b="0">
                <a:solidFill>
                  <a:srgbClr val="F7F8F5"/>
                </a:solidFill>
                <a:latin typeface="Arial"/>
                <a:ea typeface="Arial"/>
                <a:cs typeface="Arial"/>
              </a:defRPr>
            </a:pPr>
            <a:r>
              <a:rPr sz="2100" b="0">
                <a:solidFill>
                  <a:srgbClr val="F7F8F5"/>
                </a:solidFill>
                <a:latin typeface="Arial"/>
                <a:ea typeface="Arial"/>
                <a:cs typeface="Arial"/>
              </a:rPr>
              <a:t>and time to agreement.</a:t>
            </a:r>
          </a:p>
        </p:txBody>
      </p:sp>
      <p:sp>
        <p:nvSpPr>
          <p:cNvPr id="8" name="Shivam Gupta  /  Founder and builder">
            <a:extLst xmlns:a="http://schemas.openxmlformats.org/drawingml/2006/main">
              <a:ext uri="{FF2B5EF4-FFF2-40B4-BE49-F238E27FC236}">
                <a16:creationId xmlns:a16="http://schemas.microsoft.com/office/drawing/2014/main" id="{B5BA87C6-5716-46E4-94B2-42F913BD8467}"/>
              </a:ext>
            </a:extLst>
          </p:cNvPr>
          <p:cNvSpPr>
            <a:spLocks xmlns:a="http://schemas.openxmlformats.org/drawingml/2006/main" noGrp="1"/>
          </p:cNvSpPr>
          <p:nvPr/>
        </p:nvSpPr>
        <p:spPr>
          <a:xfrm xmlns:a="http://schemas.openxmlformats.org/drawingml/2006/main">
            <a:off x="609600" y="58674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7F8F5"/>
                </a:solidFill>
                <a:latin typeface="Arial"/>
                <a:ea typeface="Arial"/>
                <a:cs typeface="Arial"/>
              </a:defRPr>
            </a:pPr>
            <a:r>
              <a:rPr sz="1650" b="0">
                <a:solidFill>
                  <a:srgbClr val="F7F8F5"/>
                </a:solidFill>
                <a:latin typeface="Arial"/>
                <a:ea typeface="Arial"/>
                <a:cs typeface="Arial"/>
              </a:rPr>
              <a:t>Shivam Gupta  /  Founder and builder</a:t>
            </a:r>
          </a:p>
        </p:txBody>
      </p:sp>
      <p:sp>
        <p:nvSpPr>
          <p:cNvPr id="9" name="pactshift-wh46bdeima-uc.a.run.app">
            <a:extLst xmlns:a="http://schemas.openxmlformats.org/drawingml/2006/main">
              <a:ext uri="{FF2B5EF4-FFF2-40B4-BE49-F238E27FC236}">
                <a16:creationId xmlns:a16="http://schemas.microsoft.com/office/drawing/2014/main" id="{2E2259CD-D0D2-4D4A-B1A5-567EBF7D68EB}"/>
              </a:ext>
            </a:extLst>
          </p:cNvPr>
          <p:cNvSpPr>
            <a:spLocks xmlns:a="http://schemas.openxmlformats.org/drawingml/2006/main" noGrp="1"/>
          </p:cNvSpPr>
          <p:nvPr/>
        </p:nvSpPr>
        <p:spPr>
          <a:xfrm xmlns:a="http://schemas.openxmlformats.org/drawingml/2006/main">
            <a:off x="609600" y="6315075"/>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FF2AE"/>
                </a:solidFill>
                <a:latin typeface="Arial"/>
                <a:ea typeface="Arial"/>
                <a:cs typeface="Arial"/>
              </a:defRPr>
            </a:pPr>
            <a:r>
              <a:rPr sz="1425" b="0">
                <a:solidFill>
                  <a:srgbClr val="DFF2AE"/>
                </a:solidFill>
                <a:latin typeface="Arial"/>
                <a:ea typeface="Arial"/>
                <a:cs typeface="Arial"/>
              </a:rPr>
              <a:t>pactshift-wh46bdeima-uc.a.run.app</a:t>
            </a:r>
          </a:p>
        </p:txBody>
      </p:sp>
    </p:spTree>
    <p:extLst>
      <p:ext uri="{BB962C8B-B14F-4D97-AF65-F5344CB8AC3E}">
        <p14:creationId xmlns:p14="http://schemas.microsoft.com/office/powerpoint/2010/main" val="1997099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2026-09-22T04:36:48.9330000Z</dcterms:created>
  <dcterms:modified xsi:type="dcterms:W3CDTF">2026-09-22T04:36:48.9330000Z</dcterms:modified>
</coreProperties>
</file>